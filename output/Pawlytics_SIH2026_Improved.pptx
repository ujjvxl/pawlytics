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745e43b52a4e94" /><Relationship Type="http://schemas.openxmlformats.org/officeDocument/2006/relationships/extended-properties" Target="/docProps/app.xml" Id="R55c4e3f6ed3e4791" /><Relationship Type="http://schemas.openxmlformats.org/officeDocument/2006/relationships/officeDocument" Target="/ppt/presentation.xml" Id="Rc43c48f1266347cd" /></Relationships>
</file>

<file path=ppt/presentation.xml><?xml version="1.0" encoding="utf-8"?>
<p:presentation xmlns:p="http://schemas.openxmlformats.org/presentationml/2006/main">
  <p:sldMasterIdLst>
    <p:sldMasterId xmlns:r="http://schemas.openxmlformats.org/officeDocument/2006/relationships" id="2147483648" r:id="R6a92d84ca29147c6"/>
  </p:sldMasterIdLst>
  <p:notesMasterIdLst>
    <p:notesMasterId xmlns:r="http://schemas.openxmlformats.org/officeDocument/2006/relationships" r:id="Reb5c80b52b4442df"/>
  </p:notesMasterIdLst>
  <p:sldIdLst>
    <p:sldId xmlns:r="http://schemas.openxmlformats.org/officeDocument/2006/relationships" id="256" r:id="R6dd8d8e777204e46"/>
    <p:sldId xmlns:r="http://schemas.openxmlformats.org/officeDocument/2006/relationships" id="257" r:id="Raefa29823bd14124"/>
    <p:sldId xmlns:r="http://schemas.openxmlformats.org/officeDocument/2006/relationships" id="258" r:id="R6e7ba19e15844f57"/>
    <p:sldId xmlns:r="http://schemas.openxmlformats.org/officeDocument/2006/relationships" id="259" r:id="Red3da800113a4e04"/>
    <p:sldId xmlns:r="http://schemas.openxmlformats.org/officeDocument/2006/relationships" id="260" r:id="Rd1a8f9f348434b65"/>
    <p:sldId xmlns:r="http://schemas.openxmlformats.org/officeDocument/2006/relationships" id="261" r:id="R6a95a8569bf7419e"/>
    <p:sldId xmlns:r="http://schemas.openxmlformats.org/officeDocument/2006/relationships" id="262" r:id="R5c374051a5d44f41"/>
    <p:sldId xmlns:r="http://schemas.openxmlformats.org/officeDocument/2006/relationships" id="263" r:id="Re64778aeead644ef"/>
    <p:sldId xmlns:r="http://schemas.openxmlformats.org/officeDocument/2006/relationships" id="264" r:id="Rf05b48a5de094513"/>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ef293ee48d4b33" /><Relationship Type="http://schemas.openxmlformats.org/officeDocument/2006/relationships/slideMaster" Target="/ppt/slideMasters/slideMaster1.xml" Id="R6a92d84ca29147c6" /><Relationship Type="http://schemas.openxmlformats.org/officeDocument/2006/relationships/notesMaster" Target="/ppt/notesMasters/notesMaster1.xml" Id="Reb5c80b52b4442df" /><Relationship Type="http://schemas.openxmlformats.org/officeDocument/2006/relationships/presProps" Target="/ppt/presProps.xml" Id="Rf895027ef9bc4650" /><Relationship Type="http://schemas.openxmlformats.org/officeDocument/2006/relationships/tableStyles" Target="/ppt/tableStyles.xml" Id="R4d30ad7fbfe34705" /><Relationship Type="http://schemas.openxmlformats.org/officeDocument/2006/relationships/slide" Target="/ppt/slides/slide1.xml" Id="R6dd8d8e777204e46" /><Relationship Type="http://schemas.openxmlformats.org/officeDocument/2006/relationships/slide" Target="/ppt/slides/slide2.xml" Id="Raefa29823bd14124" /><Relationship Type="http://schemas.openxmlformats.org/officeDocument/2006/relationships/slide" Target="/ppt/slides/slide3.xml" Id="R6e7ba19e15844f57" /><Relationship Type="http://schemas.openxmlformats.org/officeDocument/2006/relationships/slide" Target="/ppt/slides/slide4.xml" Id="Red3da800113a4e04" /><Relationship Type="http://schemas.openxmlformats.org/officeDocument/2006/relationships/slide" Target="/ppt/slides/slide5.xml" Id="Rd1a8f9f348434b65" /><Relationship Type="http://schemas.openxmlformats.org/officeDocument/2006/relationships/slide" Target="/ppt/slides/slide6.xml" Id="R6a95a8569bf7419e" /><Relationship Type="http://schemas.openxmlformats.org/officeDocument/2006/relationships/slide" Target="/ppt/slides/slide7.xml" Id="R5c374051a5d44f41" /><Relationship Type="http://schemas.openxmlformats.org/officeDocument/2006/relationships/slide" Target="/ppt/slides/slide8.xml" Id="Re64778aeead644ef" /><Relationship Type="http://schemas.openxmlformats.org/officeDocument/2006/relationships/slide" Target="/ppt/slides/slide9.xml" Id="Rf05b48a5de0945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384c3a7a614a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bb35a0e8b74826" /><Relationship Type="http://schemas.openxmlformats.org/officeDocument/2006/relationships/notesMaster" Target="/ppt/notesMasters/notesMaster1.xml" Id="R92f6663e14fa4c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7f8045364f471d" /><Relationship Type="http://schemas.openxmlformats.org/officeDocument/2006/relationships/notesMaster" Target="/ppt/notesMasters/notesMaster1.xml" Id="R2fe85eb55d2741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3ef64e56c04858" /><Relationship Type="http://schemas.openxmlformats.org/officeDocument/2006/relationships/notesMaster" Target="/ppt/notesMasters/notesMaster1.xml" Id="R3cb9c26bcb124d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90f9c6315a4b75" /><Relationship Type="http://schemas.openxmlformats.org/officeDocument/2006/relationships/notesMaster" Target="/ppt/notesMasters/notesMaster1.xml" Id="Rdbe6095bdf0549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84ee67c02b4891" /><Relationship Type="http://schemas.openxmlformats.org/officeDocument/2006/relationships/notesMaster" Target="/ppt/notesMasters/notesMaster1.xml" Id="Rb0aaf14bf0c945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23926acf22481c" /><Relationship Type="http://schemas.openxmlformats.org/officeDocument/2006/relationships/notesMaster" Target="/ppt/notesMasters/notesMaster1.xml" Id="R1f9275dd8fff43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1359113ce8426a" /><Relationship Type="http://schemas.openxmlformats.org/officeDocument/2006/relationships/notesMaster" Target="/ppt/notesMasters/notesMaster1.xml" Id="R6fc0c08752f04e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d7f5ef62934a04" /><Relationship Type="http://schemas.openxmlformats.org/officeDocument/2006/relationships/notesMaster" Target="/ppt/notesMasters/notesMaster1.xml" Id="Rb3d1237fa69a4c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e80afaaf474bd8" /><Relationship Type="http://schemas.openxmlformats.org/officeDocument/2006/relationships/notesMaster" Target="/ppt/notesMasters/notesMaster1.xml" Id="Re7736c6a340b49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identity and problem statement number retained from the supplied pitch deck. Product context: https://github.com/UjjvxL/Pawlytics.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https://www.pib.gov.in/PressReleasePage.aspx?PRID=2146821. NCDC/NRCP figures for 2024: 3,717,336 dog-bite cases and 54 reported suspected human rabies deaths. This replaces the original 37.15 lakh with the figure in the cited PIB release. The operational gap is the project problem framing, not a measured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Framing adapted from slides 3–4 of the supplied deck. Pawlytics is presented as complementary decision support. Existing intervention context: https://www.pib.gov.in/PressReleasePage.aspx?PRID=2146821. No claim of proven reductions in conflict, legal compliance certification, or replacement of professional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Screenshots captured from https://pawlytics-one.vercel.app/ and https://pawlytics-one.vercel.app/report on 6 September 2026. Cropped to the application content. The citizen page explicitly labels its records synthetic demo/pilot data. Screens illustrate the UI only and do not establish real deployment, validated safety, or measured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captured from https://pawlytics-one.vercel.app/authority on 6 September 2026. Synthetic pilot demonstration, not real government records or traction metrics. Feature scope: https://github.com/UjjvxL/Pawlytics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summarized from local README.md, src/api/services and src/lib/riskEngine.js. Public repository: https://github.com/UjjvxL/Pawlytics. React 18, Vite 6, Tailwind 3.4, React Router, TanStack Query, Supabase PostgreSQL/Auth/RLS, Leaflet/OpenStreetMap. This describes the repository architecture, not a production security audit. FastAPI, PostGIS and YOLO are not represented as the current core stack because the supplied source did not establish them as current dependencies. All diagram nodes and connectors are native editable PowerPoint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src/lib/riskEngine.js. Recent non-expired 30-day reports, verified/assigned/resolved statuses or verified flag, excluding CV-rejected reports. Severity is multiplied by age, state, trust, confirmations, dog count and context weights. Age half-life is 14 days. A saturating curve maps exposure to 0–100. Confidence uses verified count. Product flow includes human verification and follow-up. https://github.com/UjjvxL/Pawlytics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150–250 ground-truth report seed target and 3–6/12+ month horizons adapted from the supplied deck. These are plans, not achievements or committed launch dates. Metrics and expansion gates are proposed evaluation criteria. Forecasting requires sufficient longitudinal data and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public repository: https://github.com/UjjvxL/Pawlytics. Its About section links to https://pawlytics-one.vercel.app/. Live citizen, report and authority pages opened successfully on 6 September 2026. All displayed links are clickable PowerPoint hyperlinks. Evidence: https://www.pib.gov.in/PressReleasePage.aspx?PRID=2146821. Original reference deck supplied by the user: Pawlytics_SIH2026_Judge_Pitch_Deck.pptx.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61c7a5d7d4e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6549bb16d4453e" /><Relationship Type="http://schemas.openxmlformats.org/officeDocument/2006/relationships/slideLayout" Target="/ppt/slideLayouts/slideLayout1.xml" Id="R305f879762a842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5f879762a842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b24271c4f34553" /><Relationship Type="http://schemas.openxmlformats.org/officeDocument/2006/relationships/image" Target="/ppt/media/image.png" Id="Rad153002b00644cf" /><Relationship Type="http://schemas.openxmlformats.org/officeDocument/2006/relationships/image" Target="/ppt/media/image2.png" Id="R43f8b92db4c54570" /><Relationship Type="http://schemas.openxmlformats.org/officeDocument/2006/relationships/notesSlide" Target="/ppt/notesSlides/notesSlide1.xml" Id="Rd8ced7f45b634a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7b374ecc7842e0" /><Relationship Type="http://schemas.openxmlformats.org/officeDocument/2006/relationships/notesSlide" Target="/ppt/notesSlides/notesSlide2.xml" Id="R59c7e73af51146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19cdba77a44fac" /><Relationship Type="http://schemas.openxmlformats.org/officeDocument/2006/relationships/notesSlide" Target="/ppt/notesSlides/notesSlide3.xml" Id="Rb3913bdd69414d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a58b8ce3594cf9" /><Relationship Type="http://schemas.openxmlformats.org/officeDocument/2006/relationships/image" Target="/ppt/media/image.jpeg" Id="R515e1fcec781409d" /><Relationship Type="http://schemas.openxmlformats.org/officeDocument/2006/relationships/image" Target="/ppt/media/image2.jpeg" Id="R8a382f4ca8304cb4" /><Relationship Type="http://schemas.openxmlformats.org/officeDocument/2006/relationships/notesSlide" Target="/ppt/notesSlides/notesSlide4.xml" Id="R8ef3781f94a040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5365d917ea4842" /><Relationship Type="http://schemas.openxmlformats.org/officeDocument/2006/relationships/image" Target="/ppt/media/image3.jpeg" Id="Rb25ff0ecd0be4683" /><Relationship Type="http://schemas.openxmlformats.org/officeDocument/2006/relationships/notesSlide" Target="/ppt/notesSlides/notesSlide5.xml" Id="R0164e4d53eb641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2148bc71cd40f7" /><Relationship Type="http://schemas.openxmlformats.org/officeDocument/2006/relationships/notesSlide" Target="/ppt/notesSlides/notesSlide6.xml" Id="R232894c3e72b4c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46820a89b04a43" /><Relationship Type="http://schemas.openxmlformats.org/officeDocument/2006/relationships/notesSlide" Target="/ppt/notesSlides/notesSlide7.xml" Id="R1c537a03895647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dbb2111a2f4a51" /><Relationship Type="http://schemas.openxmlformats.org/officeDocument/2006/relationships/notesSlide" Target="/ppt/notesSlides/notesSlide8.xml" Id="Recd4dff634af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c138bb89a44f77" /><Relationship Type="http://schemas.openxmlformats.org/officeDocument/2006/relationships/hyperlink" Target="https://pawlytics-one.vercel.app/" TargetMode="External" Id="Raf10c23027724363" /><Relationship Type="http://schemas.openxmlformats.org/officeDocument/2006/relationships/hyperlink" Target="https://github.com/UjjvxL/Pawlytics" TargetMode="External" Id="R7c5aeff0a6df4976" /><Relationship Type="http://schemas.openxmlformats.org/officeDocument/2006/relationships/hyperlink" Target="https://pawlytics-one.vercel.app/authority" TargetMode="External" Id="R7e8bca9f070b47ee" /><Relationship Type="http://schemas.openxmlformats.org/officeDocument/2006/relationships/hyperlink" Target="https://www.pib.gov.in/PressReleasePage.aspx?PRID=2146821" TargetMode="External" Id="R282036485d14438a" /><Relationship Type="http://schemas.openxmlformats.org/officeDocument/2006/relationships/notesSlide" Target="/ppt/notesSlides/notesSlide9.xml" Id="Rf92af3142a5d4d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d153002b00644cf"/>
          <a:stretch xmlns:a="http://schemas.openxmlformats.org/drawingml/2006/main"/>
        </p:blipFill>
        <p:spPr>
          <a:xfrm xmlns:a="http://schemas.openxmlformats.org/drawingml/2006/main">
            <a:off x="552450" y="409575"/>
            <a:ext cx="619125" cy="619125"/>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3f8b92db4c54570"/>
          <a:stretch xmlns:a="http://schemas.openxmlformats.org/drawingml/2006/main"/>
        </p:blipFill>
        <p:spPr>
          <a:xfrm xmlns:a="http://schemas.openxmlformats.org/drawingml/2006/main">
            <a:off x="9458325" y="370077"/>
            <a:ext cx="2124075" cy="1002920"/>
          </a:xfrm>
          <a:prstGeom xmlns:a="http://schemas.openxmlformats.org/drawingml/2006/main" prst="rect">
            <a:avLst/>
          </a:prstGeom>
        </p:spPr>
      </p:pic>
      <p:sp>
        <p:nvSpPr>
          <p:cNvPr id="3" name="SMART INDIA HACKATHON 2026">
            <a:extLst xmlns:a="http://schemas.openxmlformats.org/drawingml/2006/main">
              <a:ext uri="{FF2B5EF4-FFF2-40B4-BE49-F238E27FC236}">
                <a16:creationId xmlns:a16="http://schemas.microsoft.com/office/drawing/2014/main" id="{21090586-F8E8-42A1-922A-32887F41F700}"/>
              </a:ext>
            </a:extLst>
          </p:cNvPr>
          <p:cNvSpPr>
            <a:spLocks xmlns:a="http://schemas.openxmlformats.org/drawingml/2006/main" noGrp="1"/>
          </p:cNvSpPr>
          <p:nvPr/>
        </p:nvSpPr>
        <p:spPr>
          <a:xfrm xmlns:a="http://schemas.openxmlformats.org/drawingml/2006/main">
            <a:off x="581025" y="15716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6BA"/>
                </a:solidFill>
                <a:latin typeface="Arial"/>
                <a:ea typeface="Arial"/>
                <a:cs typeface="Arial"/>
              </a:defRPr>
            </a:pPr>
            <a:r>
              <a:rPr sz="1725" b="1">
                <a:solidFill>
                  <a:srgbClr val="0076BA"/>
                </a:solidFill>
                <a:latin typeface="Arial"/>
                <a:ea typeface="Arial"/>
                <a:cs typeface="Arial"/>
              </a:rPr>
              <a:t>SMART INDIA HACKATHON 2026</a:t>
            </a:r>
          </a:p>
        </p:txBody>
      </p:sp>
      <p:sp>
        <p:nvSpPr>
          <p:cNvPr id="4" name="Pawlytics">
            <a:extLst xmlns:a="http://schemas.openxmlformats.org/drawingml/2006/main">
              <a:ext uri="{FF2B5EF4-FFF2-40B4-BE49-F238E27FC236}">
                <a16:creationId xmlns:a16="http://schemas.microsoft.com/office/drawing/2014/main" id="{78BCED4A-E096-4794-B51D-F427B7CF04B6}"/>
              </a:ext>
            </a:extLst>
          </p:cNvPr>
          <p:cNvSpPr>
            <a:spLocks xmlns:a="http://schemas.openxmlformats.org/drawingml/2006/main" noGrp="1"/>
          </p:cNvSpPr>
          <p:nvPr/>
        </p:nvSpPr>
        <p:spPr>
          <a:xfrm xmlns:a="http://schemas.openxmlformats.org/drawingml/2006/main">
            <a:off x="542925" y="22383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1">
                <a:solidFill>
                  <a:srgbClr val="073B60"/>
                </a:solidFill>
                <a:latin typeface="Arial"/>
                <a:ea typeface="Arial"/>
                <a:cs typeface="Arial"/>
              </a:defRPr>
            </a:pPr>
            <a:r>
              <a:rPr sz="6300" b="1">
                <a:solidFill>
                  <a:srgbClr val="073B60"/>
                </a:solidFill>
                <a:latin typeface="Arial"/>
                <a:ea typeface="Arial"/>
                <a:cs typeface="Arial"/>
              </a:rPr>
              <a:t>Pawlytics</a:t>
            </a:r>
          </a:p>
        </p:txBody>
      </p:sp>
      <p:sp>
        <p:nvSpPr>
          <p:cNvPr id="5" name="Human–street dog conflict intelligence">
            <a:extLst xmlns:a="http://schemas.openxmlformats.org/drawingml/2006/main">
              <a:ext uri="{FF2B5EF4-FFF2-40B4-BE49-F238E27FC236}">
                <a16:creationId xmlns:a16="http://schemas.microsoft.com/office/drawing/2014/main" id="{2BB10EC6-A44C-4755-A7CC-9634EF222220}"/>
              </a:ext>
            </a:extLst>
          </p:cNvPr>
          <p:cNvSpPr>
            <a:spLocks xmlns:a="http://schemas.openxmlformats.org/drawingml/2006/main" noGrp="1"/>
          </p:cNvSpPr>
          <p:nvPr/>
        </p:nvSpPr>
        <p:spPr>
          <a:xfrm xmlns:a="http://schemas.openxmlformats.org/drawingml/2006/main">
            <a:off x="590550" y="3476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82B3A"/>
                </a:solidFill>
                <a:latin typeface="Arial"/>
                <a:ea typeface="Arial"/>
                <a:cs typeface="Arial"/>
              </a:defRPr>
            </a:pPr>
            <a:r>
              <a:rPr sz="2775" b="1">
                <a:solidFill>
                  <a:srgbClr val="182B3A"/>
                </a:solidFill>
                <a:latin typeface="Arial"/>
                <a:ea typeface="Arial"/>
                <a:cs typeface="Arial"/>
              </a:rPr>
              <a:t>Human–street dog conflict intelligence</a:t>
            </a:r>
          </a:p>
        </p:txBody>
      </p:sp>
      <p:sp>
        <p:nvSpPr>
          <p:cNvPr id="6" name="Ward-level risk awareness for citizens.&#10;Evidence for municip">
            <a:extLst xmlns:a="http://schemas.openxmlformats.org/drawingml/2006/main">
              <a:ext uri="{FF2B5EF4-FFF2-40B4-BE49-F238E27FC236}">
                <a16:creationId xmlns:a16="http://schemas.microsoft.com/office/drawing/2014/main" id="{E867D882-6448-46F0-96C0-E7004F73C7A5}"/>
              </a:ext>
            </a:extLst>
          </p:cNvPr>
          <p:cNvSpPr>
            <a:spLocks xmlns:a="http://schemas.openxmlformats.org/drawingml/2006/main" noGrp="1"/>
          </p:cNvSpPr>
          <p:nvPr/>
        </p:nvSpPr>
        <p:spPr>
          <a:xfrm xmlns:a="http://schemas.openxmlformats.org/drawingml/2006/main">
            <a:off x="600075" y="44386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86B79"/>
                </a:solidFill>
                <a:latin typeface="Arial"/>
                <a:ea typeface="Arial"/>
                <a:cs typeface="Arial"/>
              </a:defRPr>
            </a:pPr>
            <a:r>
              <a:rPr sz="2325" b="0">
                <a:solidFill>
                  <a:srgbClr val="586B79"/>
                </a:solidFill>
                <a:latin typeface="Arial"/>
                <a:ea typeface="Arial"/>
                <a:cs typeface="Arial"/>
              </a:rPr>
              <a:t>Ward-level risk awareness for citizens.</a:t>
            </a:r>
          </a:p>
          <a:p xmlns:a="http://schemas.openxmlformats.org/drawingml/2006/main">
            <a:pPr>
              <a:defRPr sz="2325" b="0">
                <a:solidFill>
                  <a:srgbClr val="586B79"/>
                </a:solidFill>
                <a:latin typeface="Arial"/>
                <a:ea typeface="Arial"/>
                <a:cs typeface="Arial"/>
              </a:defRPr>
            </a:pPr>
            <a:r>
              <a:rPr sz="2325" b="0">
                <a:solidFill>
                  <a:srgbClr val="586B79"/>
                </a:solidFill>
                <a:latin typeface="Arial"/>
                <a:ea typeface="Arial"/>
                <a:cs typeface="Arial"/>
              </a:rPr>
              <a:t>Evidence for municipal action.</a:t>
            </a:r>
          </a:p>
        </p:txBody>
      </p:sp>
      <p:sp>
        <p:nvSpPr>
          <p:cNvPr id="7" name="Problem Statement 26206">
            <a:extLst xmlns:a="http://schemas.openxmlformats.org/drawingml/2006/main">
              <a:ext uri="{FF2B5EF4-FFF2-40B4-BE49-F238E27FC236}">
                <a16:creationId xmlns:a16="http://schemas.microsoft.com/office/drawing/2014/main" id="{A6CBFC95-3A94-4947-8C7B-24ECC90CF2C0}"/>
              </a:ext>
            </a:extLst>
          </p:cNvPr>
          <p:cNvSpPr>
            <a:spLocks xmlns:a="http://schemas.openxmlformats.org/drawingml/2006/main" noGrp="1"/>
          </p:cNvSpPr>
          <p:nvPr/>
        </p:nvSpPr>
        <p:spPr>
          <a:xfrm xmlns:a="http://schemas.openxmlformats.org/drawingml/2006/main">
            <a:off x="609600" y="60293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6BA"/>
                </a:solidFill>
                <a:latin typeface="Arial"/>
                <a:ea typeface="Arial"/>
                <a:cs typeface="Arial"/>
              </a:defRPr>
            </a:pPr>
            <a:r>
              <a:rPr sz="1650" b="1">
                <a:solidFill>
                  <a:srgbClr val="0076BA"/>
                </a:solidFill>
                <a:latin typeface="Arial"/>
                <a:ea typeface="Arial"/>
                <a:cs typeface="Arial"/>
              </a:rPr>
              <a:t>Problem Statement 26206</a:t>
            </a:r>
          </a:p>
        </p:txBody>
      </p:sp>
    </p:spTree>
    <p:extLst>
      <p:ext uri="{BB962C8B-B14F-4D97-AF65-F5344CB8AC3E}">
        <p14:creationId xmlns:p14="http://schemas.microsoft.com/office/powerpoint/2010/main" val="10222581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AWLYTICS">
            <a:extLst xmlns:a="http://schemas.openxmlformats.org/drawingml/2006/main">
              <a:ext uri="{FF2B5EF4-FFF2-40B4-BE49-F238E27FC236}">
                <a16:creationId xmlns:a16="http://schemas.microsoft.com/office/drawing/2014/main" id="{0CBEBF6B-CECB-4237-AEE9-90FDA753982D}"/>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2">
            <a:extLst xmlns:a="http://schemas.openxmlformats.org/drawingml/2006/main">
              <a:ext uri="{FF2B5EF4-FFF2-40B4-BE49-F238E27FC236}">
                <a16:creationId xmlns:a16="http://schemas.microsoft.com/office/drawing/2014/main" id="{7F9C244F-AD5C-41D1-933A-EAF18AE7DFF4}"/>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02</a:t>
            </a:r>
          </a:p>
        </p:txBody>
      </p:sp>
      <p:sp>
        <p:nvSpPr>
          <p:cNvPr id="3" name="The public safety problem">
            <a:extLst xmlns:a="http://schemas.openxmlformats.org/drawingml/2006/main">
              <a:ext uri="{FF2B5EF4-FFF2-40B4-BE49-F238E27FC236}">
                <a16:creationId xmlns:a16="http://schemas.microsoft.com/office/drawing/2014/main" id="{850837EC-0EC0-4869-9EA5-46E99E8BA7C2}"/>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The public safety problem</a:t>
            </a:r>
          </a:p>
        </p:txBody>
      </p:sp>
      <p:sp>
        <p:nvSpPr>
          <p:cNvPr id="4" name="National reports show the scale. Local teams need a usable p">
            <a:extLst xmlns:a="http://schemas.openxmlformats.org/drawingml/2006/main">
              <a:ext uri="{FF2B5EF4-FFF2-40B4-BE49-F238E27FC236}">
                <a16:creationId xmlns:a16="http://schemas.microsoft.com/office/drawing/2014/main" id="{8FBB6E75-29A4-401B-BA43-7F66ABEF2D7A}"/>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National reports show the scale. Local teams need a usable picture of risk.</a:t>
            </a:r>
          </a:p>
        </p:txBody>
      </p:sp>
      <p:sp>
        <p:nvSpPr>
          <p:cNvPr id="5" name="37.17 lakh">
            <a:extLst xmlns:a="http://schemas.openxmlformats.org/drawingml/2006/main">
              <a:ext uri="{FF2B5EF4-FFF2-40B4-BE49-F238E27FC236}">
                <a16:creationId xmlns:a16="http://schemas.microsoft.com/office/drawing/2014/main" id="{2F19884D-0255-441E-9BDB-3F9CFB8760D1}"/>
              </a:ext>
            </a:extLst>
          </p:cNvPr>
          <p:cNvSpPr>
            <a:spLocks xmlns:a="http://schemas.openxmlformats.org/drawingml/2006/main" noGrp="1"/>
          </p:cNvSpPr>
          <p:nvPr/>
        </p:nvSpPr>
        <p:spPr>
          <a:xfrm xmlns:a="http://schemas.openxmlformats.org/drawingml/2006/main">
            <a:off x="590550" y="2352675"/>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0076BA"/>
                </a:solidFill>
                <a:latin typeface="Arial"/>
                <a:ea typeface="Arial"/>
                <a:cs typeface="Arial"/>
              </a:defRPr>
            </a:pPr>
            <a:r>
              <a:rPr sz="5475" b="1">
                <a:solidFill>
                  <a:srgbClr val="0076BA"/>
                </a:solidFill>
                <a:latin typeface="Arial"/>
                <a:ea typeface="Arial"/>
                <a:cs typeface="Arial"/>
              </a:rPr>
              <a:t>37.17 lakh</a:t>
            </a:r>
          </a:p>
        </p:txBody>
      </p:sp>
      <p:sp>
        <p:nvSpPr>
          <p:cNvPr id="6" name="Reported dog-bite cases in India, 2024">
            <a:extLst xmlns:a="http://schemas.openxmlformats.org/drawingml/2006/main">
              <a:ext uri="{FF2B5EF4-FFF2-40B4-BE49-F238E27FC236}">
                <a16:creationId xmlns:a16="http://schemas.microsoft.com/office/drawing/2014/main" id="{A4CEF05D-1EBE-444D-937E-38FCFF50ED3C}"/>
              </a:ext>
            </a:extLst>
          </p:cNvPr>
          <p:cNvSpPr>
            <a:spLocks xmlns:a="http://schemas.openxmlformats.org/drawingml/2006/main" noGrp="1"/>
          </p:cNvSpPr>
          <p:nvPr/>
        </p:nvSpPr>
        <p:spPr>
          <a:xfrm xmlns:a="http://schemas.openxmlformats.org/drawingml/2006/main">
            <a:off x="619125" y="337185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Reported dog-bite cases in India, 2024</a:t>
            </a:r>
          </a:p>
        </p:txBody>
      </p:sp>
      <p:sp>
        <p:nvSpPr>
          <p:cNvPr id="7" name="54">
            <a:extLst xmlns:a="http://schemas.openxmlformats.org/drawingml/2006/main">
              <a:ext uri="{FF2B5EF4-FFF2-40B4-BE49-F238E27FC236}">
                <a16:creationId xmlns:a16="http://schemas.microsoft.com/office/drawing/2014/main" id="{B1FC622D-4AAE-4357-AD4F-9C374251401A}"/>
              </a:ext>
            </a:extLst>
          </p:cNvPr>
          <p:cNvSpPr>
            <a:spLocks xmlns:a="http://schemas.openxmlformats.org/drawingml/2006/main" noGrp="1"/>
          </p:cNvSpPr>
          <p:nvPr/>
        </p:nvSpPr>
        <p:spPr>
          <a:xfrm xmlns:a="http://schemas.openxmlformats.org/drawingml/2006/main">
            <a:off x="7743825" y="2352675"/>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E88420"/>
                </a:solidFill>
                <a:latin typeface="Arial"/>
                <a:ea typeface="Arial"/>
                <a:cs typeface="Arial"/>
              </a:defRPr>
            </a:pPr>
            <a:r>
              <a:rPr sz="5475" b="1">
                <a:solidFill>
                  <a:srgbClr val="E88420"/>
                </a:solidFill>
                <a:latin typeface="Arial"/>
                <a:ea typeface="Arial"/>
                <a:cs typeface="Arial"/>
              </a:rPr>
              <a:t>54</a:t>
            </a:r>
          </a:p>
        </p:txBody>
      </p:sp>
      <p:sp>
        <p:nvSpPr>
          <p:cNvPr id="8" name="Reported suspected human&#10;rabies deaths, 2024">
            <a:extLst xmlns:a="http://schemas.openxmlformats.org/drawingml/2006/main">
              <a:ext uri="{FF2B5EF4-FFF2-40B4-BE49-F238E27FC236}">
                <a16:creationId xmlns:a16="http://schemas.microsoft.com/office/drawing/2014/main" id="{230CB97C-DC82-4E02-8B69-A9024FDFC902}"/>
              </a:ext>
            </a:extLst>
          </p:cNvPr>
          <p:cNvSpPr>
            <a:spLocks xmlns:a="http://schemas.openxmlformats.org/drawingml/2006/main" noGrp="1"/>
          </p:cNvSpPr>
          <p:nvPr/>
        </p:nvSpPr>
        <p:spPr>
          <a:xfrm xmlns:a="http://schemas.openxmlformats.org/drawingml/2006/main">
            <a:off x="7772400" y="33718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Reported suspected human</a:t>
            </a:r>
          </a:p>
          <a:p xmlns:a="http://schemas.openxmlformats.org/drawingml/2006/main">
            <a:pPr>
              <a:defRPr sz="1950" b="0">
                <a:solidFill>
                  <a:srgbClr val="182B3A"/>
                </a:solidFill>
                <a:latin typeface="Arial"/>
                <a:ea typeface="Arial"/>
                <a:cs typeface="Arial"/>
              </a:defRPr>
            </a:pPr>
            <a:r>
              <a:rPr sz="1950" b="0">
                <a:solidFill>
                  <a:srgbClr val="182B3A"/>
                </a:solidFill>
                <a:latin typeface="Arial"/>
                <a:ea typeface="Arial"/>
                <a:cs typeface="Arial"/>
              </a:rPr>
              <a:t>rabies deaths, 2024</a:t>
            </a:r>
          </a:p>
        </p:txBody>
      </p:sp>
      <p:sp>
        <p:nvSpPr>
          <p:cNvPr id="9" name="The operational gap">
            <a:extLst xmlns:a="http://schemas.openxmlformats.org/drawingml/2006/main">
              <a:ext uri="{FF2B5EF4-FFF2-40B4-BE49-F238E27FC236}">
                <a16:creationId xmlns:a16="http://schemas.microsoft.com/office/drawing/2014/main" id="{184ED53E-B205-4653-B131-73BF67CF2037}"/>
              </a:ext>
            </a:extLst>
          </p:cNvPr>
          <p:cNvSpPr>
            <a:spLocks xmlns:a="http://schemas.openxmlformats.org/drawingml/2006/main" noGrp="1"/>
          </p:cNvSpPr>
          <p:nvPr/>
        </p:nvSpPr>
        <p:spPr>
          <a:xfrm xmlns:a="http://schemas.openxmlformats.org/drawingml/2006/main">
            <a:off x="600075" y="44577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The operational gap</a:t>
            </a:r>
          </a:p>
        </p:txBody>
      </p:sp>
      <p:sp>
        <p:nvSpPr>
          <p:cNvPr id="10" name="Complaints and incident records need verification, location ">
            <a:extLst xmlns:a="http://schemas.openxmlformats.org/drawingml/2006/main">
              <a:ext uri="{FF2B5EF4-FFF2-40B4-BE49-F238E27FC236}">
                <a16:creationId xmlns:a16="http://schemas.microsoft.com/office/drawing/2014/main" id="{5991C2F2-FA12-4A24-A6F3-6DC7131367EE}"/>
              </a:ext>
            </a:extLst>
          </p:cNvPr>
          <p:cNvSpPr>
            <a:spLocks xmlns:a="http://schemas.openxmlformats.org/drawingml/2006/main" noGrp="1"/>
          </p:cNvSpPr>
          <p:nvPr/>
        </p:nvSpPr>
        <p:spPr>
          <a:xfrm xmlns:a="http://schemas.openxmlformats.org/drawingml/2006/main">
            <a:off x="609600" y="4991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B3A"/>
                </a:solidFill>
                <a:latin typeface="Arial"/>
                <a:ea typeface="Arial"/>
                <a:cs typeface="Arial"/>
              </a:defRPr>
            </a:pPr>
            <a:r>
              <a:rPr sz="2250" b="0">
                <a:solidFill>
                  <a:srgbClr val="182B3A"/>
                </a:solidFill>
                <a:latin typeface="Arial"/>
                <a:ea typeface="Arial"/>
                <a:cs typeface="Arial"/>
              </a:rPr>
              <a:t>Complaints and incident records need verification, location context and follow-up before they can guide ward-level action.</a:t>
            </a:r>
          </a:p>
        </p:txBody>
      </p:sp>
      <p:sp>
        <p:nvSpPr>
          <p:cNvPr id="11" name="PIB, 22 July 2025. Exact dog-bite count: 37,17,336. Reported">
            <a:extLst xmlns:a="http://schemas.openxmlformats.org/drawingml/2006/main">
              <a:ext uri="{FF2B5EF4-FFF2-40B4-BE49-F238E27FC236}">
                <a16:creationId xmlns:a16="http://schemas.microsoft.com/office/drawing/2014/main" id="{05D27654-B074-4D6B-9332-05A5133106E4}"/>
              </a:ext>
            </a:extLst>
          </p:cNvPr>
          <p:cNvSpPr>
            <a:spLocks xmlns:a="http://schemas.openxmlformats.org/drawingml/2006/main" noGrp="1"/>
          </p:cNvSpPr>
          <p:nvPr/>
        </p:nvSpPr>
        <p:spPr>
          <a:xfrm xmlns:a="http://schemas.openxmlformats.org/drawingml/2006/main">
            <a:off x="60960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86B79"/>
                </a:solidFill>
                <a:latin typeface="Arial"/>
                <a:ea typeface="Arial"/>
                <a:cs typeface="Arial"/>
              </a:defRPr>
            </a:pPr>
            <a:r>
              <a:rPr sz="1125" b="0">
                <a:solidFill>
                  <a:srgbClr val="586B79"/>
                </a:solidFill>
                <a:latin typeface="Arial"/>
                <a:ea typeface="Arial"/>
                <a:cs typeface="Arial"/>
              </a:rPr>
              <a:t>PIB, 22 July 2025. Exact dog-bite count: 37,17,336. Reported figures are not estimates of the full burden.</a:t>
            </a:r>
          </a:p>
        </p:txBody>
      </p:sp>
    </p:spTree>
    <p:extLst>
      <p:ext uri="{BB962C8B-B14F-4D97-AF65-F5344CB8AC3E}">
        <p14:creationId xmlns:p14="http://schemas.microsoft.com/office/powerpoint/2010/main" val="2954622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AWLYTICS">
            <a:extLst xmlns:a="http://schemas.openxmlformats.org/drawingml/2006/main">
              <a:ext uri="{FF2B5EF4-FFF2-40B4-BE49-F238E27FC236}">
                <a16:creationId xmlns:a16="http://schemas.microsoft.com/office/drawing/2014/main" id="{AE872DCB-128A-41D1-AEC5-4AA2DAAD5127}"/>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3">
            <a:extLst xmlns:a="http://schemas.openxmlformats.org/drawingml/2006/main">
              <a:ext uri="{FF2B5EF4-FFF2-40B4-BE49-F238E27FC236}">
                <a16:creationId xmlns:a16="http://schemas.microsoft.com/office/drawing/2014/main" id="{3312F721-88FA-4062-A662-096F1A7D1DB3}"/>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03</a:t>
            </a:r>
          </a:p>
        </p:txBody>
      </p:sp>
      <p:sp>
        <p:nvSpPr>
          <p:cNvPr id="3" name="Where Pawlytics fits">
            <a:extLst xmlns:a="http://schemas.openxmlformats.org/drawingml/2006/main">
              <a:ext uri="{FF2B5EF4-FFF2-40B4-BE49-F238E27FC236}">
                <a16:creationId xmlns:a16="http://schemas.microsoft.com/office/drawing/2014/main" id="{7588B65E-0266-4058-8E69-187C91629ACD}"/>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Where Pawlytics fits</a:t>
            </a:r>
          </a:p>
        </p:txBody>
      </p:sp>
      <p:sp>
        <p:nvSpPr>
          <p:cNvPr id="4" name="An intelligence layer that supports existing animal welfare ">
            <a:extLst xmlns:a="http://schemas.openxmlformats.org/drawingml/2006/main">
              <a:ext uri="{FF2B5EF4-FFF2-40B4-BE49-F238E27FC236}">
                <a16:creationId xmlns:a16="http://schemas.microsoft.com/office/drawing/2014/main" id="{081A378A-C891-4662-9E49-102DC994C33A}"/>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An intelligence layer that supports existing animal welfare and civic response work.</a:t>
            </a:r>
          </a:p>
        </p:txBody>
      </p:sp>
      <p:sp>
        <p:nvSpPr>
          <p:cNvPr id="5" name="Existing response">
            <a:extLst xmlns:a="http://schemas.openxmlformats.org/drawingml/2006/main">
              <a:ext uri="{FF2B5EF4-FFF2-40B4-BE49-F238E27FC236}">
                <a16:creationId xmlns:a16="http://schemas.microsoft.com/office/drawing/2014/main" id="{ACC1ECB1-3E4D-4759-9CDD-E5B87AAE4B8B}"/>
              </a:ext>
            </a:extLst>
          </p:cNvPr>
          <p:cNvSpPr>
            <a:spLocks xmlns:a="http://schemas.openxmlformats.org/drawingml/2006/main" noGrp="1"/>
          </p:cNvSpPr>
          <p:nvPr/>
        </p:nvSpPr>
        <p:spPr>
          <a:xfrm xmlns:a="http://schemas.openxmlformats.org/drawingml/2006/main">
            <a:off x="609600" y="22193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Existing response</a:t>
            </a:r>
          </a:p>
        </p:txBody>
      </p:sp>
      <p:sp>
        <p:nvSpPr>
          <p:cNvPr id="6" name="Information needed for action">
            <a:extLst xmlns:a="http://schemas.openxmlformats.org/drawingml/2006/main">
              <a:ext uri="{FF2B5EF4-FFF2-40B4-BE49-F238E27FC236}">
                <a16:creationId xmlns:a16="http://schemas.microsoft.com/office/drawing/2014/main" id="{919A38CD-54EC-4FE7-82E5-F24F6A849A23}"/>
              </a:ext>
            </a:extLst>
          </p:cNvPr>
          <p:cNvSpPr>
            <a:spLocks xmlns:a="http://schemas.openxmlformats.org/drawingml/2006/main" noGrp="1"/>
          </p:cNvSpPr>
          <p:nvPr/>
        </p:nvSpPr>
        <p:spPr>
          <a:xfrm xmlns:a="http://schemas.openxmlformats.org/drawingml/2006/main">
            <a:off x="6296025" y="22193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Information needed for action</a:t>
            </a:r>
          </a:p>
        </p:txBody>
      </p:sp>
      <p:sp>
        <p:nvSpPr>
          <p:cNvPr id="7" name="Sterilization and vaccination">
            <a:extLst xmlns:a="http://schemas.openxmlformats.org/drawingml/2006/main">
              <a:ext uri="{FF2B5EF4-FFF2-40B4-BE49-F238E27FC236}">
                <a16:creationId xmlns:a16="http://schemas.microsoft.com/office/drawing/2014/main" id="{DFD37A5B-764F-48FC-98AF-B26E44BA8A7E}"/>
              </a:ext>
            </a:extLst>
          </p:cNvPr>
          <p:cNvSpPr>
            <a:spLocks xmlns:a="http://schemas.openxmlformats.org/drawingml/2006/main" noGrp="1"/>
          </p:cNvSpPr>
          <p:nvPr/>
        </p:nvSpPr>
        <p:spPr>
          <a:xfrm xmlns:a="http://schemas.openxmlformats.org/drawingml/2006/main">
            <a:off x="619125" y="29527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B3A"/>
                </a:solidFill>
                <a:latin typeface="Arial"/>
                <a:ea typeface="Arial"/>
                <a:cs typeface="Arial"/>
              </a:defRPr>
            </a:pPr>
            <a:r>
              <a:rPr sz="2100" b="1">
                <a:solidFill>
                  <a:srgbClr val="182B3A"/>
                </a:solidFill>
                <a:latin typeface="Arial"/>
                <a:ea typeface="Arial"/>
                <a:cs typeface="Arial"/>
              </a:rPr>
              <a:t>Sterilization and vaccination</a:t>
            </a:r>
          </a:p>
        </p:txBody>
      </p:sp>
      <p:sp>
        <p:nvSpPr>
          <p:cNvPr id="8" name="Where should teams prioritize coverage?">
            <a:extLst xmlns:a="http://schemas.openxmlformats.org/drawingml/2006/main">
              <a:ext uri="{FF2B5EF4-FFF2-40B4-BE49-F238E27FC236}">
                <a16:creationId xmlns:a16="http://schemas.microsoft.com/office/drawing/2014/main" id="{979EBB60-AA98-4257-8CF0-0D4828470ED5}"/>
              </a:ext>
            </a:extLst>
          </p:cNvPr>
          <p:cNvSpPr>
            <a:spLocks xmlns:a="http://schemas.openxmlformats.org/drawingml/2006/main" noGrp="1"/>
          </p:cNvSpPr>
          <p:nvPr/>
        </p:nvSpPr>
        <p:spPr>
          <a:xfrm xmlns:a="http://schemas.openxmlformats.org/drawingml/2006/main">
            <a:off x="6305550" y="2952750"/>
            <a:ext cx="4981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B79"/>
                </a:solidFill>
                <a:latin typeface="Arial"/>
                <a:ea typeface="Arial"/>
                <a:cs typeface="Arial"/>
              </a:defRPr>
            </a:pPr>
            <a:r>
              <a:rPr sz="1950" b="0">
                <a:solidFill>
                  <a:srgbClr val="586B79"/>
                </a:solidFill>
                <a:latin typeface="Arial"/>
                <a:ea typeface="Arial"/>
                <a:cs typeface="Arial"/>
              </a:rPr>
              <a:t>Where should teams prioritize coverage?</a:t>
            </a:r>
          </a:p>
        </p:txBody>
      </p:sp>
      <p:sp>
        <p:nvSpPr>
          <p:cNvPr id="9" name="Shelter and veterinary capacity">
            <a:extLst xmlns:a="http://schemas.openxmlformats.org/drawingml/2006/main">
              <a:ext uri="{FF2B5EF4-FFF2-40B4-BE49-F238E27FC236}">
                <a16:creationId xmlns:a16="http://schemas.microsoft.com/office/drawing/2014/main" id="{3A9A5C02-4C80-4E5E-B5B9-E0331C52604D}"/>
              </a:ext>
            </a:extLst>
          </p:cNvPr>
          <p:cNvSpPr>
            <a:spLocks xmlns:a="http://schemas.openxmlformats.org/drawingml/2006/main" noGrp="1"/>
          </p:cNvSpPr>
          <p:nvPr/>
        </p:nvSpPr>
        <p:spPr>
          <a:xfrm xmlns:a="http://schemas.openxmlformats.org/drawingml/2006/main">
            <a:off x="619125" y="381952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B3A"/>
                </a:solidFill>
                <a:latin typeface="Arial"/>
                <a:ea typeface="Arial"/>
                <a:cs typeface="Arial"/>
              </a:defRPr>
            </a:pPr>
            <a:r>
              <a:rPr sz="2100" b="1">
                <a:solidFill>
                  <a:srgbClr val="182B3A"/>
                </a:solidFill>
                <a:latin typeface="Arial"/>
                <a:ea typeface="Arial"/>
                <a:cs typeface="Arial"/>
              </a:rPr>
              <a:t>Shelter and veterinary capacity</a:t>
            </a:r>
          </a:p>
        </p:txBody>
      </p:sp>
      <p:sp>
        <p:nvSpPr>
          <p:cNvPr id="10" name="Which incidents need a field response?">
            <a:extLst xmlns:a="http://schemas.openxmlformats.org/drawingml/2006/main">
              <a:ext uri="{FF2B5EF4-FFF2-40B4-BE49-F238E27FC236}">
                <a16:creationId xmlns:a16="http://schemas.microsoft.com/office/drawing/2014/main" id="{E192474D-2240-4D5F-9B67-7F0DB89A9B0A}"/>
              </a:ext>
            </a:extLst>
          </p:cNvPr>
          <p:cNvSpPr>
            <a:spLocks xmlns:a="http://schemas.openxmlformats.org/drawingml/2006/main" noGrp="1"/>
          </p:cNvSpPr>
          <p:nvPr/>
        </p:nvSpPr>
        <p:spPr>
          <a:xfrm xmlns:a="http://schemas.openxmlformats.org/drawingml/2006/main">
            <a:off x="6305550" y="3819525"/>
            <a:ext cx="4981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B79"/>
                </a:solidFill>
                <a:latin typeface="Arial"/>
                <a:ea typeface="Arial"/>
                <a:cs typeface="Arial"/>
              </a:defRPr>
            </a:pPr>
            <a:r>
              <a:rPr sz="1950" b="0">
                <a:solidFill>
                  <a:srgbClr val="586B79"/>
                </a:solidFill>
                <a:latin typeface="Arial"/>
                <a:ea typeface="Arial"/>
                <a:cs typeface="Arial"/>
              </a:rPr>
              <a:t>Which incidents need a field response?</a:t>
            </a:r>
          </a:p>
        </p:txBody>
      </p:sp>
      <p:sp>
        <p:nvSpPr>
          <p:cNvPr id="11" name="Municipal complaints and drives">
            <a:extLst xmlns:a="http://schemas.openxmlformats.org/drawingml/2006/main">
              <a:ext uri="{FF2B5EF4-FFF2-40B4-BE49-F238E27FC236}">
                <a16:creationId xmlns:a16="http://schemas.microsoft.com/office/drawing/2014/main" id="{B0113482-96DE-46FD-9CD1-CBE4A6181960}"/>
              </a:ext>
            </a:extLst>
          </p:cNvPr>
          <p:cNvSpPr>
            <a:spLocks xmlns:a="http://schemas.openxmlformats.org/drawingml/2006/main" noGrp="1"/>
          </p:cNvSpPr>
          <p:nvPr/>
        </p:nvSpPr>
        <p:spPr>
          <a:xfrm xmlns:a="http://schemas.openxmlformats.org/drawingml/2006/main">
            <a:off x="619125" y="468630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B3A"/>
                </a:solidFill>
                <a:latin typeface="Arial"/>
                <a:ea typeface="Arial"/>
                <a:cs typeface="Arial"/>
              </a:defRPr>
            </a:pPr>
            <a:r>
              <a:rPr sz="2100" b="1">
                <a:solidFill>
                  <a:srgbClr val="182B3A"/>
                </a:solidFill>
                <a:latin typeface="Arial"/>
                <a:ea typeface="Arial"/>
                <a:cs typeface="Arial"/>
              </a:rPr>
              <a:t>Municipal complaints and drives</a:t>
            </a:r>
          </a:p>
        </p:txBody>
      </p:sp>
      <p:sp>
        <p:nvSpPr>
          <p:cNvPr id="12" name="Who verified the report and what happened next?">
            <a:extLst xmlns:a="http://schemas.openxmlformats.org/drawingml/2006/main">
              <a:ext uri="{FF2B5EF4-FFF2-40B4-BE49-F238E27FC236}">
                <a16:creationId xmlns:a16="http://schemas.microsoft.com/office/drawing/2014/main" id="{6143B6C3-A4F8-48C1-BF99-FFE652ED2BD7}"/>
              </a:ext>
            </a:extLst>
          </p:cNvPr>
          <p:cNvSpPr>
            <a:spLocks xmlns:a="http://schemas.openxmlformats.org/drawingml/2006/main" noGrp="1"/>
          </p:cNvSpPr>
          <p:nvPr/>
        </p:nvSpPr>
        <p:spPr>
          <a:xfrm xmlns:a="http://schemas.openxmlformats.org/drawingml/2006/main">
            <a:off x="6305550" y="4686300"/>
            <a:ext cx="4981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B79"/>
                </a:solidFill>
                <a:latin typeface="Arial"/>
                <a:ea typeface="Arial"/>
                <a:cs typeface="Arial"/>
              </a:defRPr>
            </a:pPr>
            <a:r>
              <a:rPr sz="1950" b="0">
                <a:solidFill>
                  <a:srgbClr val="586B79"/>
                </a:solidFill>
                <a:latin typeface="Arial"/>
                <a:ea typeface="Arial"/>
                <a:cs typeface="Arial"/>
              </a:rPr>
              <a:t>Who verified the report and what happened next?</a:t>
            </a:r>
          </a:p>
        </p:txBody>
      </p:sp>
      <p:sp>
        <p:nvSpPr>
          <p:cNvPr id="13" name="Pawlytics connects verified reports to local priorities and ">
            <a:extLst xmlns:a="http://schemas.openxmlformats.org/drawingml/2006/main">
              <a:ext uri="{FF2B5EF4-FFF2-40B4-BE49-F238E27FC236}">
                <a16:creationId xmlns:a16="http://schemas.microsoft.com/office/drawing/2014/main" id="{3FA75466-0537-4E83-A7EA-6BAD2BD05115}"/>
              </a:ext>
            </a:extLst>
          </p:cNvPr>
          <p:cNvSpPr>
            <a:spLocks xmlns:a="http://schemas.openxmlformats.org/drawingml/2006/main" noGrp="1"/>
          </p:cNvSpPr>
          <p:nvPr/>
        </p:nvSpPr>
        <p:spPr>
          <a:xfrm xmlns:a="http://schemas.openxmlformats.org/drawingml/2006/main">
            <a:off x="619125" y="57531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8A68"/>
                </a:solidFill>
                <a:latin typeface="Arial"/>
                <a:ea typeface="Arial"/>
                <a:cs typeface="Arial"/>
              </a:defRPr>
            </a:pPr>
            <a:r>
              <a:rPr sz="2175" b="1">
                <a:solidFill>
                  <a:srgbClr val="108A68"/>
                </a:solidFill>
                <a:latin typeface="Arial"/>
                <a:ea typeface="Arial"/>
                <a:cs typeface="Arial"/>
              </a:rPr>
              <a:t>Pawlytics connects verified reports to local priorities and an action history.</a:t>
            </a:r>
          </a:p>
        </p:txBody>
      </p:sp>
    </p:spTree>
    <p:extLst>
      <p:ext uri="{BB962C8B-B14F-4D97-AF65-F5344CB8AC3E}">
        <p14:creationId xmlns:p14="http://schemas.microsoft.com/office/powerpoint/2010/main" val="1639035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AWLYTICS">
            <a:extLst xmlns:a="http://schemas.openxmlformats.org/drawingml/2006/main">
              <a:ext uri="{FF2B5EF4-FFF2-40B4-BE49-F238E27FC236}">
                <a16:creationId xmlns:a16="http://schemas.microsoft.com/office/drawing/2014/main" id="{FAAD1F04-D710-422F-A2AE-D5DCF4E146ED}"/>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4">
            <a:extLst xmlns:a="http://schemas.openxmlformats.org/drawingml/2006/main">
              <a:ext uri="{FF2B5EF4-FFF2-40B4-BE49-F238E27FC236}">
                <a16:creationId xmlns:a16="http://schemas.microsoft.com/office/drawing/2014/main" id="{A5345CE1-2B57-4FBD-B031-6DF865C9D573}"/>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04</a:t>
            </a:r>
          </a:p>
        </p:txBody>
      </p:sp>
      <p:sp>
        <p:nvSpPr>
          <p:cNvPr id="3" name="Citizen experience">
            <a:extLst xmlns:a="http://schemas.openxmlformats.org/drawingml/2006/main">
              <a:ext uri="{FF2B5EF4-FFF2-40B4-BE49-F238E27FC236}">
                <a16:creationId xmlns:a16="http://schemas.microsoft.com/office/drawing/2014/main" id="{F28B3FBA-6E52-48A3-939B-0661B5C317EF}"/>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Citizen experience</a:t>
            </a:r>
          </a:p>
        </p:txBody>
      </p:sp>
      <p:sp>
        <p:nvSpPr>
          <p:cNvPr id="4" name="Local risk context and structured reporting in a mobile web ">
            <a:extLst xmlns:a="http://schemas.openxmlformats.org/drawingml/2006/main">
              <a:ext uri="{FF2B5EF4-FFF2-40B4-BE49-F238E27FC236}">
                <a16:creationId xmlns:a16="http://schemas.microsoft.com/office/drawing/2014/main" id="{8EA964FF-45F1-47CE-B385-598C6CF40636}"/>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Local risk context and structured reporting in a mobile web app.</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15e1fcec781409d"/>
          <a:stretch xmlns:a="http://schemas.openxmlformats.org/drawingml/2006/main"/>
        </p:blipFill>
        <p:spPr>
          <a:xfrm xmlns:a="http://schemas.openxmlformats.org/drawingml/2006/main">
            <a:off x="581025" y="2163356"/>
            <a:ext cx="3019425" cy="3979087"/>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a382f4ca8304cb4"/>
          <a:stretch xmlns:a="http://schemas.openxmlformats.org/drawingml/2006/main"/>
        </p:blipFill>
        <p:spPr>
          <a:xfrm xmlns:a="http://schemas.openxmlformats.org/drawingml/2006/main">
            <a:off x="3962400" y="2162267"/>
            <a:ext cx="3000375" cy="3981267"/>
          </a:xfrm>
          <a:prstGeom xmlns:a="http://schemas.openxmlformats.org/drawingml/2006/main" prst="rect">
            <a:avLst/>
          </a:prstGeom>
        </p:spPr>
      </p:pic>
      <p:sp>
        <p:nvSpPr>
          <p:cNvPr id="7" name="Know before you go">
            <a:extLst xmlns:a="http://schemas.openxmlformats.org/drawingml/2006/main">
              <a:ext uri="{FF2B5EF4-FFF2-40B4-BE49-F238E27FC236}">
                <a16:creationId xmlns:a16="http://schemas.microsoft.com/office/drawing/2014/main" id="{17E22364-C17E-424B-971E-A45EAA39D3C1}"/>
              </a:ext>
            </a:extLst>
          </p:cNvPr>
          <p:cNvSpPr>
            <a:spLocks xmlns:a="http://schemas.openxmlformats.org/drawingml/2006/main" noGrp="1"/>
          </p:cNvSpPr>
          <p:nvPr/>
        </p:nvSpPr>
        <p:spPr>
          <a:xfrm xmlns:a="http://schemas.openxmlformats.org/drawingml/2006/main">
            <a:off x="7553325" y="242887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Know before you go</a:t>
            </a:r>
          </a:p>
        </p:txBody>
      </p:sp>
      <p:sp>
        <p:nvSpPr>
          <p:cNvPr id="8" name="See the current risk label and the amount of verified eviden">
            <a:extLst xmlns:a="http://schemas.openxmlformats.org/drawingml/2006/main">
              <a:ext uri="{FF2B5EF4-FFF2-40B4-BE49-F238E27FC236}">
                <a16:creationId xmlns:a16="http://schemas.microsoft.com/office/drawing/2014/main" id="{001E4225-13C1-4940-9F89-E2DCC4B63A53}"/>
              </a:ext>
            </a:extLst>
          </p:cNvPr>
          <p:cNvSpPr>
            <a:spLocks xmlns:a="http://schemas.openxmlformats.org/drawingml/2006/main" noGrp="1"/>
          </p:cNvSpPr>
          <p:nvPr/>
        </p:nvSpPr>
        <p:spPr>
          <a:xfrm xmlns:a="http://schemas.openxmlformats.org/drawingml/2006/main">
            <a:off x="7572375" y="2981325"/>
            <a:ext cx="38671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See the current risk label and the amount of verified evidence behind it.</a:t>
            </a:r>
          </a:p>
        </p:txBody>
      </p:sp>
      <p:sp>
        <p:nvSpPr>
          <p:cNvPr id="9" name="Report what happened">
            <a:extLst xmlns:a="http://schemas.openxmlformats.org/drawingml/2006/main">
              <a:ext uri="{FF2B5EF4-FFF2-40B4-BE49-F238E27FC236}">
                <a16:creationId xmlns:a16="http://schemas.microsoft.com/office/drawing/2014/main" id="{E7116FBD-10BC-478E-BDD3-09816D27F246}"/>
              </a:ext>
            </a:extLst>
          </p:cNvPr>
          <p:cNvSpPr>
            <a:spLocks xmlns:a="http://schemas.openxmlformats.org/drawingml/2006/main" noGrp="1"/>
          </p:cNvSpPr>
          <p:nvPr/>
        </p:nvSpPr>
        <p:spPr>
          <a:xfrm xmlns:a="http://schemas.openxmlformats.org/drawingml/2006/main">
            <a:off x="7553325" y="4371975"/>
            <a:ext cx="400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Report what happened</a:t>
            </a:r>
          </a:p>
        </p:txBody>
      </p:sp>
      <p:sp>
        <p:nvSpPr>
          <p:cNvPr id="10" name="Choose an incident category or start with the voice reportin">
            <a:extLst xmlns:a="http://schemas.openxmlformats.org/drawingml/2006/main">
              <a:ext uri="{FF2B5EF4-FFF2-40B4-BE49-F238E27FC236}">
                <a16:creationId xmlns:a16="http://schemas.microsoft.com/office/drawing/2014/main" id="{0D53847A-AD4C-46AD-A289-E81E9B0EEE31}"/>
              </a:ext>
            </a:extLst>
          </p:cNvPr>
          <p:cNvSpPr>
            <a:spLocks xmlns:a="http://schemas.openxmlformats.org/drawingml/2006/main" noGrp="1"/>
          </p:cNvSpPr>
          <p:nvPr/>
        </p:nvSpPr>
        <p:spPr>
          <a:xfrm xmlns:a="http://schemas.openxmlformats.org/drawingml/2006/main">
            <a:off x="7572375" y="4924425"/>
            <a:ext cx="3867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Choose an incident category or start with the voice reporting interface.</a:t>
            </a:r>
          </a:p>
        </p:txBody>
      </p:sp>
      <p:sp>
        <p:nvSpPr>
          <p:cNvPr id="11" name="Live app screenshots. Synthetic demo data, not government re">
            <a:extLst xmlns:a="http://schemas.openxmlformats.org/drawingml/2006/main">
              <a:ext uri="{FF2B5EF4-FFF2-40B4-BE49-F238E27FC236}">
                <a16:creationId xmlns:a16="http://schemas.microsoft.com/office/drawing/2014/main" id="{2D0C9404-1127-4545-BCDB-823F69EA7EE6}"/>
              </a:ext>
            </a:extLst>
          </p:cNvPr>
          <p:cNvSpPr>
            <a:spLocks xmlns:a="http://schemas.openxmlformats.org/drawingml/2006/main" noGrp="1"/>
          </p:cNvSpPr>
          <p:nvPr/>
        </p:nvSpPr>
        <p:spPr>
          <a:xfrm xmlns:a="http://schemas.openxmlformats.org/drawingml/2006/main">
            <a:off x="609600" y="62484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B79"/>
                </a:solidFill>
                <a:latin typeface="Arial"/>
                <a:ea typeface="Arial"/>
                <a:cs typeface="Arial"/>
              </a:defRPr>
            </a:pPr>
            <a:r>
              <a:rPr sz="1200" b="0">
                <a:solidFill>
                  <a:srgbClr val="586B79"/>
                </a:solidFill>
                <a:latin typeface="Arial"/>
                <a:ea typeface="Arial"/>
                <a:cs typeface="Arial"/>
              </a:rPr>
              <a:t>Live app screenshots. Synthetic demo data, not government records.</a:t>
            </a:r>
          </a:p>
        </p:txBody>
      </p:sp>
    </p:spTree>
    <p:extLst>
      <p:ext uri="{BB962C8B-B14F-4D97-AF65-F5344CB8AC3E}">
        <p14:creationId xmlns:p14="http://schemas.microsoft.com/office/powerpoint/2010/main" val="7946758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AWLYTICS">
            <a:extLst xmlns:a="http://schemas.openxmlformats.org/drawingml/2006/main">
              <a:ext uri="{FF2B5EF4-FFF2-40B4-BE49-F238E27FC236}">
                <a16:creationId xmlns:a16="http://schemas.microsoft.com/office/drawing/2014/main" id="{128C26D7-45BA-4FAB-B8DF-FEF5BC52B3E5}"/>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5">
            <a:extLst xmlns:a="http://schemas.openxmlformats.org/drawingml/2006/main">
              <a:ext uri="{FF2B5EF4-FFF2-40B4-BE49-F238E27FC236}">
                <a16:creationId xmlns:a16="http://schemas.microsoft.com/office/drawing/2014/main" id="{9E67194F-E9B3-48EA-8D1E-4143B1FF9369}"/>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05</a:t>
            </a:r>
          </a:p>
        </p:txBody>
      </p:sp>
      <p:sp>
        <p:nvSpPr>
          <p:cNvPr id="3" name="Municipal authority workspace">
            <a:extLst xmlns:a="http://schemas.openxmlformats.org/drawingml/2006/main">
              <a:ext uri="{FF2B5EF4-FFF2-40B4-BE49-F238E27FC236}">
                <a16:creationId xmlns:a16="http://schemas.microsoft.com/office/drawing/2014/main" id="{94511A5A-272F-499D-A521-D6C9FC6358E0}"/>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Municipal authority workspace</a:t>
            </a:r>
          </a:p>
        </p:txBody>
      </p:sp>
      <p:sp>
        <p:nvSpPr>
          <p:cNvPr id="4" name="A shared view of reports, review workload and intervention a">
            <a:extLst xmlns:a="http://schemas.openxmlformats.org/drawingml/2006/main">
              <a:ext uri="{FF2B5EF4-FFF2-40B4-BE49-F238E27FC236}">
                <a16:creationId xmlns:a16="http://schemas.microsoft.com/office/drawing/2014/main" id="{9C288F0F-3F17-4681-A916-266F6EF153C9}"/>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A shared view of reports, review workload and intervention activity.</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25ff0ecd0be4683"/>
          <a:stretch xmlns:a="http://schemas.openxmlformats.org/drawingml/2006/main"/>
        </p:blipFill>
        <p:spPr>
          <a:xfrm xmlns:a="http://schemas.openxmlformats.org/drawingml/2006/main">
            <a:off x="970554" y="2143125"/>
            <a:ext cx="7621993" cy="4286250"/>
          </a:xfrm>
          <a:prstGeom xmlns:a="http://schemas.openxmlformats.org/drawingml/2006/main" prst="rect">
            <a:avLst/>
          </a:prstGeom>
        </p:spPr>
      </p:pic>
      <p:sp>
        <p:nvSpPr>
          <p:cNvPr id="6" name="Review">
            <a:extLst xmlns:a="http://schemas.openxmlformats.org/drawingml/2006/main">
              <a:ext uri="{FF2B5EF4-FFF2-40B4-BE49-F238E27FC236}">
                <a16:creationId xmlns:a16="http://schemas.microsoft.com/office/drawing/2014/main" id="{945C39AC-CA62-43C7-9372-FE434B5BB58A}"/>
              </a:ext>
            </a:extLst>
          </p:cNvPr>
          <p:cNvSpPr>
            <a:spLocks xmlns:a="http://schemas.openxmlformats.org/drawingml/2006/main" noGrp="1"/>
          </p:cNvSpPr>
          <p:nvPr/>
        </p:nvSpPr>
        <p:spPr>
          <a:xfrm xmlns:a="http://schemas.openxmlformats.org/drawingml/2006/main">
            <a:off x="9324975" y="23431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6BA"/>
                </a:solidFill>
                <a:latin typeface="Arial"/>
                <a:ea typeface="Arial"/>
                <a:cs typeface="Arial"/>
              </a:defRPr>
            </a:pPr>
            <a:r>
              <a:rPr sz="2100" b="1">
                <a:solidFill>
                  <a:srgbClr val="0076BA"/>
                </a:solidFill>
                <a:latin typeface="Arial"/>
                <a:ea typeface="Arial"/>
                <a:cs typeface="Arial"/>
              </a:rPr>
              <a:t>Review</a:t>
            </a:r>
          </a:p>
        </p:txBody>
      </p:sp>
      <p:sp>
        <p:nvSpPr>
          <p:cNvPr id="7" name="Triage reports in the verification queue.">
            <a:extLst xmlns:a="http://schemas.openxmlformats.org/drawingml/2006/main">
              <a:ext uri="{FF2B5EF4-FFF2-40B4-BE49-F238E27FC236}">
                <a16:creationId xmlns:a16="http://schemas.microsoft.com/office/drawing/2014/main" id="{638F3BD9-C0C7-4A7C-9723-2AE24900BDBE}"/>
              </a:ext>
            </a:extLst>
          </p:cNvPr>
          <p:cNvSpPr>
            <a:spLocks xmlns:a="http://schemas.openxmlformats.org/drawingml/2006/main" noGrp="1"/>
          </p:cNvSpPr>
          <p:nvPr/>
        </p:nvSpPr>
        <p:spPr>
          <a:xfrm xmlns:a="http://schemas.openxmlformats.org/drawingml/2006/main">
            <a:off x="9344025" y="2800350"/>
            <a:ext cx="2171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B3A"/>
                </a:solidFill>
                <a:latin typeface="Arial"/>
                <a:ea typeface="Arial"/>
                <a:cs typeface="Arial"/>
              </a:defRPr>
            </a:pPr>
            <a:r>
              <a:rPr sz="1800" b="0">
                <a:solidFill>
                  <a:srgbClr val="182B3A"/>
                </a:solidFill>
                <a:latin typeface="Arial"/>
                <a:ea typeface="Arial"/>
                <a:cs typeface="Arial"/>
              </a:rPr>
              <a:t>Triage reports in the verification queue.</a:t>
            </a:r>
          </a:p>
        </p:txBody>
      </p:sp>
      <p:sp>
        <p:nvSpPr>
          <p:cNvPr id="8" name="Prioritize">
            <a:extLst xmlns:a="http://schemas.openxmlformats.org/drawingml/2006/main">
              <a:ext uri="{FF2B5EF4-FFF2-40B4-BE49-F238E27FC236}">
                <a16:creationId xmlns:a16="http://schemas.microsoft.com/office/drawing/2014/main" id="{3EDEFE00-0263-41CF-A1A0-A2898B171EEB}"/>
              </a:ext>
            </a:extLst>
          </p:cNvPr>
          <p:cNvSpPr>
            <a:spLocks xmlns:a="http://schemas.openxmlformats.org/drawingml/2006/main" noGrp="1"/>
          </p:cNvSpPr>
          <p:nvPr/>
        </p:nvSpPr>
        <p:spPr>
          <a:xfrm xmlns:a="http://schemas.openxmlformats.org/drawingml/2006/main">
            <a:off x="9324975" y="38481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8A68"/>
                </a:solidFill>
                <a:latin typeface="Arial"/>
                <a:ea typeface="Arial"/>
                <a:cs typeface="Arial"/>
              </a:defRPr>
            </a:pPr>
            <a:r>
              <a:rPr sz="2100" b="1">
                <a:solidFill>
                  <a:srgbClr val="108A68"/>
                </a:solidFill>
                <a:latin typeface="Arial"/>
                <a:ea typeface="Arial"/>
                <a:cs typeface="Arial"/>
              </a:rPr>
              <a:t>Prioritize</a:t>
            </a:r>
          </a:p>
        </p:txBody>
      </p:sp>
      <p:sp>
        <p:nvSpPr>
          <p:cNvPr id="9" name="Compare sectors and track hotspots.">
            <a:extLst xmlns:a="http://schemas.openxmlformats.org/drawingml/2006/main">
              <a:ext uri="{FF2B5EF4-FFF2-40B4-BE49-F238E27FC236}">
                <a16:creationId xmlns:a16="http://schemas.microsoft.com/office/drawing/2014/main" id="{619E86DB-E1F4-4E01-A299-A4FEAA3E1554}"/>
              </a:ext>
            </a:extLst>
          </p:cNvPr>
          <p:cNvSpPr>
            <a:spLocks xmlns:a="http://schemas.openxmlformats.org/drawingml/2006/main" noGrp="1"/>
          </p:cNvSpPr>
          <p:nvPr/>
        </p:nvSpPr>
        <p:spPr>
          <a:xfrm xmlns:a="http://schemas.openxmlformats.org/drawingml/2006/main">
            <a:off x="9344025" y="4305300"/>
            <a:ext cx="219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B3A"/>
                </a:solidFill>
                <a:latin typeface="Arial"/>
                <a:ea typeface="Arial"/>
                <a:cs typeface="Arial"/>
              </a:defRPr>
            </a:pPr>
            <a:r>
              <a:rPr sz="1800" b="0">
                <a:solidFill>
                  <a:srgbClr val="182B3A"/>
                </a:solidFill>
                <a:latin typeface="Arial"/>
                <a:ea typeface="Arial"/>
                <a:cs typeface="Arial"/>
              </a:rPr>
              <a:t>Compare sectors and track hotspots.</a:t>
            </a:r>
          </a:p>
        </p:txBody>
      </p:sp>
      <p:sp>
        <p:nvSpPr>
          <p:cNvPr id="10" name="Follow up">
            <a:extLst xmlns:a="http://schemas.openxmlformats.org/drawingml/2006/main">
              <a:ext uri="{FF2B5EF4-FFF2-40B4-BE49-F238E27FC236}">
                <a16:creationId xmlns:a16="http://schemas.microsoft.com/office/drawing/2014/main" id="{F2F95443-EDAD-495E-969C-FAA487D4F09A}"/>
              </a:ext>
            </a:extLst>
          </p:cNvPr>
          <p:cNvSpPr>
            <a:spLocks xmlns:a="http://schemas.openxmlformats.org/drawingml/2006/main" noGrp="1"/>
          </p:cNvSpPr>
          <p:nvPr/>
        </p:nvSpPr>
        <p:spPr>
          <a:xfrm xmlns:a="http://schemas.openxmlformats.org/drawingml/2006/main">
            <a:off x="9324975" y="53340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73B60"/>
                </a:solidFill>
                <a:latin typeface="Arial"/>
                <a:ea typeface="Arial"/>
                <a:cs typeface="Arial"/>
              </a:defRPr>
            </a:pPr>
            <a:r>
              <a:rPr sz="2100" b="1">
                <a:solidFill>
                  <a:srgbClr val="073B60"/>
                </a:solidFill>
                <a:latin typeface="Arial"/>
                <a:ea typeface="Arial"/>
                <a:cs typeface="Arial"/>
              </a:rPr>
              <a:t>Follow up</a:t>
            </a:r>
          </a:p>
        </p:txBody>
      </p:sp>
      <p:sp>
        <p:nvSpPr>
          <p:cNvPr id="11" name="Record actions and export summaries.">
            <a:extLst xmlns:a="http://schemas.openxmlformats.org/drawingml/2006/main">
              <a:ext uri="{FF2B5EF4-FFF2-40B4-BE49-F238E27FC236}">
                <a16:creationId xmlns:a16="http://schemas.microsoft.com/office/drawing/2014/main" id="{813DDE7E-FFC1-4D77-A2E0-828303F1E907}"/>
              </a:ext>
            </a:extLst>
          </p:cNvPr>
          <p:cNvSpPr>
            <a:spLocks xmlns:a="http://schemas.openxmlformats.org/drawingml/2006/main" noGrp="1"/>
          </p:cNvSpPr>
          <p:nvPr/>
        </p:nvSpPr>
        <p:spPr>
          <a:xfrm xmlns:a="http://schemas.openxmlformats.org/drawingml/2006/main">
            <a:off x="9344025" y="5791200"/>
            <a:ext cx="219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2B3A"/>
                </a:solidFill>
                <a:latin typeface="Arial"/>
                <a:ea typeface="Arial"/>
                <a:cs typeface="Arial"/>
              </a:defRPr>
            </a:pPr>
            <a:r>
              <a:rPr sz="1800" b="0">
                <a:solidFill>
                  <a:srgbClr val="182B3A"/>
                </a:solidFill>
                <a:latin typeface="Arial"/>
                <a:ea typeface="Arial"/>
                <a:cs typeface="Arial"/>
              </a:rPr>
              <a:t>Record actions and export summaries.</a:t>
            </a:r>
          </a:p>
        </p:txBody>
      </p:sp>
      <p:sp>
        <p:nvSpPr>
          <p:cNvPr id="12" name="Live demo UI. Counts and trends shown are synthetic.">
            <a:extLst xmlns:a="http://schemas.openxmlformats.org/drawingml/2006/main">
              <a:ext uri="{FF2B5EF4-FFF2-40B4-BE49-F238E27FC236}">
                <a16:creationId xmlns:a16="http://schemas.microsoft.com/office/drawing/2014/main" id="{287217D0-3C10-4C8E-8E93-4859F23E9F6F}"/>
              </a:ext>
            </a:extLst>
          </p:cNvPr>
          <p:cNvSpPr>
            <a:spLocks xmlns:a="http://schemas.openxmlformats.org/drawingml/2006/main" noGrp="1"/>
          </p:cNvSpPr>
          <p:nvPr/>
        </p:nvSpPr>
        <p:spPr>
          <a:xfrm xmlns:a="http://schemas.openxmlformats.org/drawingml/2006/main">
            <a:off x="609600" y="6496050"/>
            <a:ext cx="847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86B79"/>
                </a:solidFill>
                <a:latin typeface="Arial"/>
                <a:ea typeface="Arial"/>
                <a:cs typeface="Arial"/>
              </a:defRPr>
            </a:pPr>
            <a:r>
              <a:rPr sz="1125" b="0">
                <a:solidFill>
                  <a:srgbClr val="586B79"/>
                </a:solidFill>
                <a:latin typeface="Arial"/>
                <a:ea typeface="Arial"/>
                <a:cs typeface="Arial"/>
              </a:rPr>
              <a:t>Live demo UI. Counts and trends shown are synthetic.</a:t>
            </a:r>
          </a:p>
        </p:txBody>
      </p:sp>
    </p:spTree>
    <p:extLst>
      <p:ext uri="{BB962C8B-B14F-4D97-AF65-F5344CB8AC3E}">
        <p14:creationId xmlns:p14="http://schemas.microsoft.com/office/powerpoint/2010/main" val="7986859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AWLYTICS">
            <a:extLst xmlns:a="http://schemas.openxmlformats.org/drawingml/2006/main">
              <a:ext uri="{FF2B5EF4-FFF2-40B4-BE49-F238E27FC236}">
                <a16:creationId xmlns:a16="http://schemas.microsoft.com/office/drawing/2014/main" id="{B83EF4FA-2A78-47DD-B57A-7C683E1FBA3B}"/>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6">
            <a:extLst xmlns:a="http://schemas.openxmlformats.org/drawingml/2006/main">
              <a:ext uri="{FF2B5EF4-FFF2-40B4-BE49-F238E27FC236}">
                <a16:creationId xmlns:a16="http://schemas.microsoft.com/office/drawing/2014/main" id="{61E067E1-6834-4496-A9C6-8E22097EC70E}"/>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06</a:t>
            </a:r>
          </a:p>
        </p:txBody>
      </p:sp>
      <p:sp>
        <p:nvSpPr>
          <p:cNvPr id="3" name="System architecture">
            <a:extLst xmlns:a="http://schemas.openxmlformats.org/drawingml/2006/main">
              <a:ext uri="{FF2B5EF4-FFF2-40B4-BE49-F238E27FC236}">
                <a16:creationId xmlns:a16="http://schemas.microsoft.com/office/drawing/2014/main" id="{55BFBD1E-5D84-400D-8C2E-A66542728606}"/>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System architecture</a:t>
            </a:r>
          </a:p>
        </p:txBody>
      </p:sp>
      <p:sp>
        <p:nvSpPr>
          <p:cNvPr id="4" name="Current repository stack and the flow between the applicatio">
            <a:extLst xmlns:a="http://schemas.openxmlformats.org/drawingml/2006/main">
              <a:ext uri="{FF2B5EF4-FFF2-40B4-BE49-F238E27FC236}">
                <a16:creationId xmlns:a16="http://schemas.microsoft.com/office/drawing/2014/main" id="{49246DAF-425C-445A-A765-5EB0A793153C}"/>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Current repository stack and the flow between the application layers.</a:t>
            </a:r>
          </a:p>
        </p:txBody>
      </p:sp>
      <p:sp>
        <p:nvSpPr>
          <p:cNvPr id="5" name="">
            <a:extLst xmlns:a="http://schemas.openxmlformats.org/drawingml/2006/main">
              <a:ext uri="{FF2B5EF4-FFF2-40B4-BE49-F238E27FC236}">
                <a16:creationId xmlns:a16="http://schemas.microsoft.com/office/drawing/2014/main" id="{FB6D2CE6-E306-4B3F-92E2-AABF85F503D5}"/>
              </a:ext>
            </a:extLst>
          </p:cNvPr>
          <p:cNvSpPr>
            <a:spLocks xmlns:a="http://schemas.openxmlformats.org/drawingml/2006/main" noGrp="1"/>
          </p:cNvSpPr>
          <p:nvPr/>
        </p:nvSpPr>
        <p:spPr>
          <a:xfrm xmlns:a="http://schemas.openxmlformats.org/drawingml/2006/main">
            <a:off x="571500" y="2305050"/>
            <a:ext cx="2428875" cy="1181100"/>
          </a:xfrm>
          <a:prstGeom xmlns:a="http://schemas.openxmlformats.org/drawingml/2006/main" prst="roundRect">
            <a:avLst>
              <a:gd name="adj" fmla="val 8065"/>
            </a:avLst>
          </a:prstGeom>
          <a:solidFill xmlns:a="http://schemas.openxmlformats.org/drawingml/2006/main">
            <a:srgbClr val="F1F7FA"/>
          </a:solidFill>
          <a:ln xmlns:a="http://schemas.openxmlformats.org/drawingml/2006/main" w="19050">
            <a:solidFill>
              <a:srgbClr val="0076BA"/>
            </a:solidFill>
          </a:ln>
        </p:spPr>
      </p:sp>
      <p:sp>
        <p:nvSpPr>
          <p:cNvPr id="6" name="Citizen PWA">
            <a:extLst xmlns:a="http://schemas.openxmlformats.org/drawingml/2006/main">
              <a:ext uri="{FF2B5EF4-FFF2-40B4-BE49-F238E27FC236}">
                <a16:creationId xmlns:a16="http://schemas.microsoft.com/office/drawing/2014/main" id="{BDCA1D29-E038-4EF4-BB0C-8D53D0908515}"/>
              </a:ext>
            </a:extLst>
          </p:cNvPr>
          <p:cNvSpPr>
            <a:spLocks xmlns:a="http://schemas.openxmlformats.org/drawingml/2006/main" noGrp="1"/>
          </p:cNvSpPr>
          <p:nvPr/>
        </p:nvSpPr>
        <p:spPr>
          <a:xfrm xmlns:a="http://schemas.openxmlformats.org/drawingml/2006/main">
            <a:off x="723900" y="2438400"/>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Citizen PWA</a:t>
            </a:r>
          </a:p>
        </p:txBody>
      </p:sp>
      <p:sp>
        <p:nvSpPr>
          <p:cNvPr id="7" name="Reports and risk views">
            <a:extLst xmlns:a="http://schemas.openxmlformats.org/drawingml/2006/main">
              <a:ext uri="{FF2B5EF4-FFF2-40B4-BE49-F238E27FC236}">
                <a16:creationId xmlns:a16="http://schemas.microsoft.com/office/drawing/2014/main" id="{32FA872B-393B-440F-8FBB-F1ED2339B6A9}"/>
              </a:ext>
            </a:extLst>
          </p:cNvPr>
          <p:cNvSpPr>
            <a:spLocks xmlns:a="http://schemas.openxmlformats.org/drawingml/2006/main" noGrp="1"/>
          </p:cNvSpPr>
          <p:nvPr/>
        </p:nvSpPr>
        <p:spPr>
          <a:xfrm xmlns:a="http://schemas.openxmlformats.org/drawingml/2006/main">
            <a:off x="723900" y="2847975"/>
            <a:ext cx="21240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Reports and risk views</a:t>
            </a:r>
          </a:p>
        </p:txBody>
      </p:sp>
      <p:sp>
        <p:nvSpPr>
          <p:cNvPr id="8" name="">
            <a:extLst xmlns:a="http://schemas.openxmlformats.org/drawingml/2006/main">
              <a:ext uri="{FF2B5EF4-FFF2-40B4-BE49-F238E27FC236}">
                <a16:creationId xmlns:a16="http://schemas.microsoft.com/office/drawing/2014/main" id="{102C7621-B0B7-4815-B8B5-CA0DB5915DA2}"/>
              </a:ext>
            </a:extLst>
          </p:cNvPr>
          <p:cNvSpPr>
            <a:spLocks xmlns:a="http://schemas.openxmlformats.org/drawingml/2006/main" noGrp="1"/>
          </p:cNvSpPr>
          <p:nvPr/>
        </p:nvSpPr>
        <p:spPr>
          <a:xfrm xmlns:a="http://schemas.openxmlformats.org/drawingml/2006/main">
            <a:off x="3676650" y="2305050"/>
            <a:ext cx="3905250" cy="1181100"/>
          </a:xfrm>
          <a:prstGeom xmlns:a="http://schemas.openxmlformats.org/drawingml/2006/main" prst="roundRect">
            <a:avLst>
              <a:gd name="adj" fmla="val 8065"/>
            </a:avLst>
          </a:prstGeom>
          <a:solidFill xmlns:a="http://schemas.openxmlformats.org/drawingml/2006/main">
            <a:srgbClr val="F1F7FA"/>
          </a:solidFill>
          <a:ln xmlns:a="http://schemas.openxmlformats.org/drawingml/2006/main" w="19050">
            <a:solidFill>
              <a:srgbClr val="0076BA"/>
            </a:solidFill>
          </a:ln>
        </p:spPr>
      </p:sp>
      <p:sp>
        <p:nvSpPr>
          <p:cNvPr id="9" name="React application">
            <a:extLst xmlns:a="http://schemas.openxmlformats.org/drawingml/2006/main">
              <a:ext uri="{FF2B5EF4-FFF2-40B4-BE49-F238E27FC236}">
                <a16:creationId xmlns:a16="http://schemas.microsoft.com/office/drawing/2014/main" id="{7D25BDDF-5DFE-428E-BB80-27F143B46F1C}"/>
              </a:ext>
            </a:extLst>
          </p:cNvPr>
          <p:cNvSpPr>
            <a:spLocks xmlns:a="http://schemas.openxmlformats.org/drawingml/2006/main" noGrp="1"/>
          </p:cNvSpPr>
          <p:nvPr/>
        </p:nvSpPr>
        <p:spPr>
          <a:xfrm xmlns:a="http://schemas.openxmlformats.org/drawingml/2006/main">
            <a:off x="3829050" y="2438400"/>
            <a:ext cx="3600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React application</a:t>
            </a:r>
          </a:p>
        </p:txBody>
      </p:sp>
      <p:sp>
        <p:nvSpPr>
          <p:cNvPr id="10" name="React Router, TanStack Query&#10;Vite and Tailwind CSS">
            <a:extLst xmlns:a="http://schemas.openxmlformats.org/drawingml/2006/main">
              <a:ext uri="{FF2B5EF4-FFF2-40B4-BE49-F238E27FC236}">
                <a16:creationId xmlns:a16="http://schemas.microsoft.com/office/drawing/2014/main" id="{893F4EBE-D0C9-4E3A-993F-11953C964BB2}"/>
              </a:ext>
            </a:extLst>
          </p:cNvPr>
          <p:cNvSpPr>
            <a:spLocks xmlns:a="http://schemas.openxmlformats.org/drawingml/2006/main" noGrp="1"/>
          </p:cNvSpPr>
          <p:nvPr/>
        </p:nvSpPr>
        <p:spPr>
          <a:xfrm xmlns:a="http://schemas.openxmlformats.org/drawingml/2006/main">
            <a:off x="3829050" y="2847975"/>
            <a:ext cx="3600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React Router, TanStack Query</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Vite and Tailwind CSS</a:t>
            </a:r>
          </a:p>
        </p:txBody>
      </p:sp>
      <p:sp>
        <p:nvSpPr>
          <p:cNvPr id="11" name="">
            <a:extLst xmlns:a="http://schemas.openxmlformats.org/drawingml/2006/main">
              <a:ext uri="{FF2B5EF4-FFF2-40B4-BE49-F238E27FC236}">
                <a16:creationId xmlns:a16="http://schemas.microsoft.com/office/drawing/2014/main" id="{721E822D-2E88-477D-9F98-649671F05397}"/>
              </a:ext>
            </a:extLst>
          </p:cNvPr>
          <p:cNvSpPr>
            <a:spLocks xmlns:a="http://schemas.openxmlformats.org/drawingml/2006/main" noGrp="1"/>
          </p:cNvSpPr>
          <p:nvPr/>
        </p:nvSpPr>
        <p:spPr>
          <a:xfrm xmlns:a="http://schemas.openxmlformats.org/drawingml/2006/main">
            <a:off x="8258175" y="2305050"/>
            <a:ext cx="3333750" cy="1181100"/>
          </a:xfrm>
          <a:prstGeom xmlns:a="http://schemas.openxmlformats.org/drawingml/2006/main" prst="roundRect">
            <a:avLst>
              <a:gd name="adj" fmla="val 8065"/>
            </a:avLst>
          </a:prstGeom>
          <a:solidFill xmlns:a="http://schemas.openxmlformats.org/drawingml/2006/main">
            <a:srgbClr val="F1F7FA"/>
          </a:solidFill>
          <a:ln xmlns:a="http://schemas.openxmlformats.org/drawingml/2006/main" w="19050">
            <a:solidFill>
              <a:srgbClr val="108A68"/>
            </a:solidFill>
          </a:ln>
        </p:spPr>
      </p:sp>
      <p:sp>
        <p:nvSpPr>
          <p:cNvPr id="12" name="Supabase">
            <a:extLst xmlns:a="http://schemas.openxmlformats.org/drawingml/2006/main">
              <a:ext uri="{FF2B5EF4-FFF2-40B4-BE49-F238E27FC236}">
                <a16:creationId xmlns:a16="http://schemas.microsoft.com/office/drawing/2014/main" id="{EE3E9EB6-470E-4156-A952-3998D2A4841F}"/>
              </a:ext>
            </a:extLst>
          </p:cNvPr>
          <p:cNvSpPr>
            <a:spLocks xmlns:a="http://schemas.openxmlformats.org/drawingml/2006/main" noGrp="1"/>
          </p:cNvSpPr>
          <p:nvPr/>
        </p:nvSpPr>
        <p:spPr>
          <a:xfrm xmlns:a="http://schemas.openxmlformats.org/drawingml/2006/main">
            <a:off x="8410575" y="2438400"/>
            <a:ext cx="302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Supabase</a:t>
            </a:r>
          </a:p>
        </p:txBody>
      </p:sp>
      <p:sp>
        <p:nvSpPr>
          <p:cNvPr id="13" name="PostgreSQL, Auth and RLS">
            <a:extLst xmlns:a="http://schemas.openxmlformats.org/drawingml/2006/main">
              <a:ext uri="{FF2B5EF4-FFF2-40B4-BE49-F238E27FC236}">
                <a16:creationId xmlns:a16="http://schemas.microsoft.com/office/drawing/2014/main" id="{529B38CE-8DD5-459A-86D3-533B01FA02E3}"/>
              </a:ext>
            </a:extLst>
          </p:cNvPr>
          <p:cNvSpPr>
            <a:spLocks xmlns:a="http://schemas.openxmlformats.org/drawingml/2006/main" noGrp="1"/>
          </p:cNvSpPr>
          <p:nvPr/>
        </p:nvSpPr>
        <p:spPr>
          <a:xfrm xmlns:a="http://schemas.openxmlformats.org/drawingml/2006/main">
            <a:off x="8410575" y="2847975"/>
            <a:ext cx="3028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PostgreSQL, Auth and RLS</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3000375" y="2895600"/>
            <a:ext cx="676275"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a:off x="7581900" y="2895600"/>
            <a:ext cx="676275" cy="0"/>
          </a:xfrm>
          <a:prstGeom xmlns:a="http://schemas.openxmlformats.org/drawingml/2006/main" prst="straightConnector1">
            <a:avLst/>
          </a:prstGeom>
          <a:ln xmlns:a="http://schemas.openxmlformats.org/drawingml/2006/main" w="23813">
            <a:solidFill>
              <a:srgbClr val="0076BA"/>
            </a:solidFill>
            <a:headEnd type="arrow" w="med" len="med"/>
          </a:ln>
        </p:spPr>
      </p:cxnSp>
      <p:sp>
        <p:nvSpPr>
          <p:cNvPr id="16" name="">
            <a:extLst xmlns:a="http://schemas.openxmlformats.org/drawingml/2006/main">
              <a:ext uri="{FF2B5EF4-FFF2-40B4-BE49-F238E27FC236}">
                <a16:creationId xmlns:a16="http://schemas.microsoft.com/office/drawing/2014/main" id="{8F9C2809-6CE5-4416-99DB-59EB1E7A00AF}"/>
              </a:ext>
            </a:extLst>
          </p:cNvPr>
          <p:cNvSpPr>
            <a:spLocks xmlns:a="http://schemas.openxmlformats.org/drawingml/2006/main" noGrp="1"/>
          </p:cNvSpPr>
          <p:nvPr/>
        </p:nvSpPr>
        <p:spPr>
          <a:xfrm xmlns:a="http://schemas.openxmlformats.org/drawingml/2006/main">
            <a:off x="571500" y="4467225"/>
            <a:ext cx="2428875" cy="1238250"/>
          </a:xfrm>
          <a:prstGeom xmlns:a="http://schemas.openxmlformats.org/drawingml/2006/main" prst="roundRect">
            <a:avLst>
              <a:gd name="adj" fmla="val 7692"/>
            </a:avLst>
          </a:prstGeom>
          <a:solidFill xmlns:a="http://schemas.openxmlformats.org/drawingml/2006/main">
            <a:srgbClr val="F1F7FA"/>
          </a:solidFill>
          <a:ln xmlns:a="http://schemas.openxmlformats.org/drawingml/2006/main" w="19050">
            <a:solidFill>
              <a:srgbClr val="108A68"/>
            </a:solidFill>
          </a:ln>
        </p:spPr>
      </p:sp>
      <p:sp>
        <p:nvSpPr>
          <p:cNvPr id="17" name="Authority portal">
            <a:extLst xmlns:a="http://schemas.openxmlformats.org/drawingml/2006/main">
              <a:ext uri="{FF2B5EF4-FFF2-40B4-BE49-F238E27FC236}">
                <a16:creationId xmlns:a16="http://schemas.microsoft.com/office/drawing/2014/main" id="{1C897A6A-5474-441E-9740-DDD51B1D524C}"/>
              </a:ext>
            </a:extLst>
          </p:cNvPr>
          <p:cNvSpPr>
            <a:spLocks xmlns:a="http://schemas.openxmlformats.org/drawingml/2006/main" noGrp="1"/>
          </p:cNvSpPr>
          <p:nvPr/>
        </p:nvSpPr>
        <p:spPr>
          <a:xfrm xmlns:a="http://schemas.openxmlformats.org/drawingml/2006/main">
            <a:off x="723900" y="4600575"/>
            <a:ext cx="2124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Authority portal</a:t>
            </a:r>
          </a:p>
        </p:txBody>
      </p:sp>
      <p:sp>
        <p:nvSpPr>
          <p:cNvPr id="18" name="Verification and actions">
            <a:extLst xmlns:a="http://schemas.openxmlformats.org/drawingml/2006/main">
              <a:ext uri="{FF2B5EF4-FFF2-40B4-BE49-F238E27FC236}">
                <a16:creationId xmlns:a16="http://schemas.microsoft.com/office/drawing/2014/main" id="{F8F19CDE-2085-4952-BA10-9F73008F245E}"/>
              </a:ext>
            </a:extLst>
          </p:cNvPr>
          <p:cNvSpPr>
            <a:spLocks xmlns:a="http://schemas.openxmlformats.org/drawingml/2006/main" noGrp="1"/>
          </p:cNvSpPr>
          <p:nvPr/>
        </p:nvSpPr>
        <p:spPr>
          <a:xfrm xmlns:a="http://schemas.openxmlformats.org/drawingml/2006/main">
            <a:off x="723900" y="5010150"/>
            <a:ext cx="21240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Verification and actions</a:t>
            </a:r>
          </a:p>
        </p:txBody>
      </p:sp>
      <p:sp>
        <p:nvSpPr>
          <p:cNvPr id="19" name="">
            <a:extLst xmlns:a="http://schemas.openxmlformats.org/drawingml/2006/main">
              <a:ext uri="{FF2B5EF4-FFF2-40B4-BE49-F238E27FC236}">
                <a16:creationId xmlns:a16="http://schemas.microsoft.com/office/drawing/2014/main" id="{CA7D7632-50C6-4FB5-9FFE-61A48E8CC1DC}"/>
              </a:ext>
            </a:extLst>
          </p:cNvPr>
          <p:cNvSpPr>
            <a:spLocks xmlns:a="http://schemas.openxmlformats.org/drawingml/2006/main" noGrp="1"/>
          </p:cNvSpPr>
          <p:nvPr/>
        </p:nvSpPr>
        <p:spPr>
          <a:xfrm xmlns:a="http://schemas.openxmlformats.org/drawingml/2006/main">
            <a:off x="3676650" y="4467225"/>
            <a:ext cx="3905250" cy="1238250"/>
          </a:xfrm>
          <a:prstGeom xmlns:a="http://schemas.openxmlformats.org/drawingml/2006/main" prst="roundRect">
            <a:avLst>
              <a:gd name="adj" fmla="val 7692"/>
            </a:avLst>
          </a:prstGeom>
          <a:solidFill xmlns:a="http://schemas.openxmlformats.org/drawingml/2006/main">
            <a:srgbClr val="F1F7FA"/>
          </a:solidFill>
          <a:ln xmlns:a="http://schemas.openxmlformats.org/drawingml/2006/main" w="19050">
            <a:solidFill>
              <a:srgbClr val="0076BA"/>
            </a:solidFill>
          </a:ln>
        </p:spPr>
      </p:sp>
      <p:sp>
        <p:nvSpPr>
          <p:cNvPr id="20" name="Risk + spatial layer">
            <a:extLst xmlns:a="http://schemas.openxmlformats.org/drawingml/2006/main">
              <a:ext uri="{FF2B5EF4-FFF2-40B4-BE49-F238E27FC236}">
                <a16:creationId xmlns:a16="http://schemas.microsoft.com/office/drawing/2014/main" id="{BEF87EAB-6662-4269-9C9C-0FE2756A1D33}"/>
              </a:ext>
            </a:extLst>
          </p:cNvPr>
          <p:cNvSpPr>
            <a:spLocks xmlns:a="http://schemas.openxmlformats.org/drawingml/2006/main" noGrp="1"/>
          </p:cNvSpPr>
          <p:nvPr/>
        </p:nvSpPr>
        <p:spPr>
          <a:xfrm xmlns:a="http://schemas.openxmlformats.org/drawingml/2006/main">
            <a:off x="3829050" y="4600575"/>
            <a:ext cx="3600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Risk + spatial layer</a:t>
            </a:r>
          </a:p>
        </p:txBody>
      </p:sp>
      <p:sp>
        <p:nvSpPr>
          <p:cNvPr id="21" name="JavaScript risk engine&#10;Leaflet and OpenStreetMap">
            <a:extLst xmlns:a="http://schemas.openxmlformats.org/drawingml/2006/main">
              <a:ext uri="{FF2B5EF4-FFF2-40B4-BE49-F238E27FC236}">
                <a16:creationId xmlns:a16="http://schemas.microsoft.com/office/drawing/2014/main" id="{F54B1430-C446-465E-B7A6-D3A23A19F7FC}"/>
              </a:ext>
            </a:extLst>
          </p:cNvPr>
          <p:cNvSpPr>
            <a:spLocks xmlns:a="http://schemas.openxmlformats.org/drawingml/2006/main" noGrp="1"/>
          </p:cNvSpPr>
          <p:nvPr/>
        </p:nvSpPr>
        <p:spPr>
          <a:xfrm xmlns:a="http://schemas.openxmlformats.org/drawingml/2006/main">
            <a:off x="3829050" y="5010150"/>
            <a:ext cx="3600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JavaScript risk engine</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Leaflet and OpenStreetMap</a:t>
            </a:r>
          </a:p>
        </p:txBody>
      </p:sp>
      <p:sp>
        <p:nvSpPr>
          <p:cNvPr id="22" name="">
            <a:extLst xmlns:a="http://schemas.openxmlformats.org/drawingml/2006/main">
              <a:ext uri="{FF2B5EF4-FFF2-40B4-BE49-F238E27FC236}">
                <a16:creationId xmlns:a16="http://schemas.microsoft.com/office/drawing/2014/main" id="{F7B037BD-DB56-4261-B626-93785EB1B084}"/>
              </a:ext>
            </a:extLst>
          </p:cNvPr>
          <p:cNvSpPr>
            <a:spLocks xmlns:a="http://schemas.openxmlformats.org/drawingml/2006/main" noGrp="1"/>
          </p:cNvSpPr>
          <p:nvPr/>
        </p:nvSpPr>
        <p:spPr>
          <a:xfrm xmlns:a="http://schemas.openxmlformats.org/drawingml/2006/main">
            <a:off x="8258175" y="4467225"/>
            <a:ext cx="3333750" cy="1238250"/>
          </a:xfrm>
          <a:prstGeom xmlns:a="http://schemas.openxmlformats.org/drawingml/2006/main" prst="roundRect">
            <a:avLst>
              <a:gd name="adj" fmla="val 7692"/>
            </a:avLst>
          </a:prstGeom>
          <a:solidFill xmlns:a="http://schemas.openxmlformats.org/drawingml/2006/main">
            <a:srgbClr val="F1F7FA"/>
          </a:solidFill>
          <a:ln xmlns:a="http://schemas.openxmlformats.org/drawingml/2006/main" w="19050">
            <a:solidFill>
              <a:srgbClr val="108A68"/>
            </a:solidFill>
          </a:ln>
        </p:spPr>
      </p:sp>
      <p:sp>
        <p:nvSpPr>
          <p:cNvPr id="23" name="Operational records">
            <a:extLst xmlns:a="http://schemas.openxmlformats.org/drawingml/2006/main">
              <a:ext uri="{FF2B5EF4-FFF2-40B4-BE49-F238E27FC236}">
                <a16:creationId xmlns:a16="http://schemas.microsoft.com/office/drawing/2014/main" id="{EEF16967-A67E-410F-8284-1FDD828933BC}"/>
              </a:ext>
            </a:extLst>
          </p:cNvPr>
          <p:cNvSpPr>
            <a:spLocks xmlns:a="http://schemas.openxmlformats.org/drawingml/2006/main" noGrp="1"/>
          </p:cNvSpPr>
          <p:nvPr/>
        </p:nvSpPr>
        <p:spPr>
          <a:xfrm xmlns:a="http://schemas.openxmlformats.org/drawingml/2006/main">
            <a:off x="8410575" y="4600575"/>
            <a:ext cx="302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Operational records</a:t>
            </a:r>
          </a:p>
        </p:txBody>
      </p:sp>
      <p:sp>
        <p:nvSpPr>
          <p:cNvPr id="24" name="Reports, verifications, wards,&#10;hotspots, alerts and actions">
            <a:extLst xmlns:a="http://schemas.openxmlformats.org/drawingml/2006/main">
              <a:ext uri="{FF2B5EF4-FFF2-40B4-BE49-F238E27FC236}">
                <a16:creationId xmlns:a16="http://schemas.microsoft.com/office/drawing/2014/main" id="{42A0F1D8-D40D-457A-B453-C079C092884D}"/>
              </a:ext>
            </a:extLst>
          </p:cNvPr>
          <p:cNvSpPr>
            <a:spLocks xmlns:a="http://schemas.openxmlformats.org/drawingml/2006/main" noGrp="1"/>
          </p:cNvSpPr>
          <p:nvPr/>
        </p:nvSpPr>
        <p:spPr>
          <a:xfrm xmlns:a="http://schemas.openxmlformats.org/drawingml/2006/main">
            <a:off x="8410575" y="5010150"/>
            <a:ext cx="3028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Reports, verifications, wards,</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hotspots, alerts and actions</a:t>
            </a:r>
          </a:p>
        </p:txBody>
      </p:sp>
      <p:cxnSp>
        <p:nvCxnSpPr>
          <p:cNvPr id="54" name=""/>
          <p:cNvCxnSpPr>
            <a:stCxn xmlns:a="http://schemas.openxmlformats.org/drawingml/2006/main" id="16" idx="3"/>
            <a:endCxn xmlns:a="http://schemas.openxmlformats.org/drawingml/2006/main" id="19" idx="1"/>
          </p:cNvCxnSpPr>
          <p:nvPr/>
        </p:nvCxnSpPr>
        <p:spPr>
          <a:xfrm xmlns:a="http://schemas.openxmlformats.org/drawingml/2006/main">
            <a:off x="3000375" y="5086350"/>
            <a:ext cx="676275"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55" name=""/>
          <p:cNvCxnSpPr>
            <a:stCxn xmlns:a="http://schemas.openxmlformats.org/drawingml/2006/main" id="8" idx="2"/>
            <a:endCxn xmlns:a="http://schemas.openxmlformats.org/drawingml/2006/main" id="19" idx="0"/>
          </p:cNvCxnSpPr>
          <p:nvPr/>
        </p:nvCxnSpPr>
        <p:spPr>
          <a:xfrm xmlns:a="http://schemas.openxmlformats.org/drawingml/2006/main">
            <a:off x="5629275" y="3486150"/>
            <a:ext cx="0" cy="981075"/>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56" name=""/>
          <p:cNvCxnSpPr>
            <a:stCxn xmlns:a="http://schemas.openxmlformats.org/drawingml/2006/main" id="11" idx="2"/>
            <a:endCxn xmlns:a="http://schemas.openxmlformats.org/drawingml/2006/main" id="22" idx="0"/>
          </p:cNvCxnSpPr>
          <p:nvPr/>
        </p:nvCxnSpPr>
        <p:spPr>
          <a:xfrm xmlns:a="http://schemas.openxmlformats.org/drawingml/2006/main">
            <a:off x="9925050" y="3486150"/>
            <a:ext cx="0" cy="981075"/>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57" name=""/>
          <p:cNvCxnSpPr>
            <a:stCxn xmlns:a="http://schemas.openxmlformats.org/drawingml/2006/main" id="22" idx="1"/>
            <a:endCxn xmlns:a="http://schemas.openxmlformats.org/drawingml/2006/main" id="19" idx="3"/>
          </p:cNvCxnSpPr>
          <p:nvPr/>
        </p:nvCxnSpPr>
        <p:spPr>
          <a:xfrm xmlns:a="http://schemas.openxmlformats.org/drawingml/2006/main" flipH="1">
            <a:off x="7581900" y="5086350"/>
            <a:ext cx="676275" cy="0"/>
          </a:xfrm>
          <a:prstGeom xmlns:a="http://schemas.openxmlformats.org/drawingml/2006/main" prst="straightConnector1">
            <a:avLst/>
          </a:prstGeom>
          <a:ln xmlns:a="http://schemas.openxmlformats.org/drawingml/2006/main" w="23813">
            <a:solidFill>
              <a:srgbClr val="0076BA"/>
            </a:solidFill>
            <a:headEnd type="arrow" w="med" len="med"/>
          </a:ln>
        </p:spPr>
      </p:cxnSp>
      <p:sp>
        <p:nvSpPr>
          <p:cNvPr id="29" name="Role-based access and row-level security protect the data la">
            <a:extLst xmlns:a="http://schemas.openxmlformats.org/drawingml/2006/main">
              <a:ext uri="{FF2B5EF4-FFF2-40B4-BE49-F238E27FC236}">
                <a16:creationId xmlns:a16="http://schemas.microsoft.com/office/drawing/2014/main" id="{22D67034-D1AF-4773-A217-4CBF53C7F438}"/>
              </a:ext>
            </a:extLst>
          </p:cNvPr>
          <p:cNvSpPr>
            <a:spLocks xmlns:a="http://schemas.openxmlformats.org/drawingml/2006/main" noGrp="1"/>
          </p:cNvSpPr>
          <p:nvPr/>
        </p:nvSpPr>
        <p:spPr>
          <a:xfrm xmlns:a="http://schemas.openxmlformats.org/drawingml/2006/main">
            <a:off x="609600" y="6096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86B79"/>
                </a:solidFill>
                <a:latin typeface="Arial"/>
                <a:ea typeface="Arial"/>
                <a:cs typeface="Arial"/>
              </a:defRPr>
            </a:pPr>
            <a:r>
              <a:rPr sz="1650" b="0">
                <a:solidFill>
                  <a:srgbClr val="586B79"/>
                </a:solidFill>
                <a:latin typeface="Arial"/>
                <a:ea typeface="Arial"/>
                <a:cs typeface="Arial"/>
              </a:rPr>
              <a:t>Role-based access and row-level security protect the data layer. Scores support human decisions.</a:t>
            </a:r>
          </a:p>
        </p:txBody>
      </p:sp>
    </p:spTree>
    <p:extLst>
      <p:ext uri="{BB962C8B-B14F-4D97-AF65-F5344CB8AC3E}">
        <p14:creationId xmlns:p14="http://schemas.microsoft.com/office/powerpoint/2010/main" val="11706804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PAWLYTICS">
            <a:extLst xmlns:a="http://schemas.openxmlformats.org/drawingml/2006/main">
              <a:ext uri="{FF2B5EF4-FFF2-40B4-BE49-F238E27FC236}">
                <a16:creationId xmlns:a16="http://schemas.microsoft.com/office/drawing/2014/main" id="{8F94BEAD-45EA-4F26-A210-19DA078DCB29}"/>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7">
            <a:extLst xmlns:a="http://schemas.openxmlformats.org/drawingml/2006/main">
              <a:ext uri="{FF2B5EF4-FFF2-40B4-BE49-F238E27FC236}">
                <a16:creationId xmlns:a16="http://schemas.microsoft.com/office/drawing/2014/main" id="{920150FB-84C8-4683-9160-343611C8CAC8}"/>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07</a:t>
            </a:r>
          </a:p>
        </p:txBody>
      </p:sp>
      <p:sp>
        <p:nvSpPr>
          <p:cNvPr id="3" name="Report-to-action flow">
            <a:extLst xmlns:a="http://schemas.openxmlformats.org/drawingml/2006/main">
              <a:ext uri="{FF2B5EF4-FFF2-40B4-BE49-F238E27FC236}">
                <a16:creationId xmlns:a16="http://schemas.microsoft.com/office/drawing/2014/main" id="{93A8A045-8A04-493B-9E81-5AA1CC902D33}"/>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Report-to-action flow</a:t>
            </a:r>
          </a:p>
        </p:txBody>
      </p:sp>
      <p:sp>
        <p:nvSpPr>
          <p:cNvPr id="4" name="Verification and confidence make the risk score explainable.">
            <a:extLst xmlns:a="http://schemas.openxmlformats.org/drawingml/2006/main">
              <a:ext uri="{FF2B5EF4-FFF2-40B4-BE49-F238E27FC236}">
                <a16:creationId xmlns:a16="http://schemas.microsoft.com/office/drawing/2014/main" id="{6364C22B-ED47-412A-968B-6310B2D12E27}"/>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Verification and confidence make the risk score explainable.</a:t>
            </a:r>
          </a:p>
        </p:txBody>
      </p:sp>
      <p:sp>
        <p:nvSpPr>
          <p:cNvPr id="5" name="">
            <a:extLst xmlns:a="http://schemas.openxmlformats.org/drawingml/2006/main">
              <a:ext uri="{FF2B5EF4-FFF2-40B4-BE49-F238E27FC236}">
                <a16:creationId xmlns:a16="http://schemas.microsoft.com/office/drawing/2014/main" id="{E43104C1-E1CC-4750-8E5F-1316B77A53F8}"/>
              </a:ext>
            </a:extLst>
          </p:cNvPr>
          <p:cNvSpPr>
            <a:spLocks xmlns:a="http://schemas.openxmlformats.org/drawingml/2006/main" noGrp="1"/>
          </p:cNvSpPr>
          <p:nvPr/>
        </p:nvSpPr>
        <p:spPr>
          <a:xfrm xmlns:a="http://schemas.openxmlformats.org/drawingml/2006/main">
            <a:off x="571500" y="2362200"/>
            <a:ext cx="2000250"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0076BA"/>
            </a:solidFill>
          </a:ln>
        </p:spPr>
      </p:sp>
      <p:sp>
        <p:nvSpPr>
          <p:cNvPr id="6" name="Report">
            <a:extLst xmlns:a="http://schemas.openxmlformats.org/drawingml/2006/main">
              <a:ext uri="{FF2B5EF4-FFF2-40B4-BE49-F238E27FC236}">
                <a16:creationId xmlns:a16="http://schemas.microsoft.com/office/drawing/2014/main" id="{74EFD777-8358-4CE9-8F9C-48039583A0DE}"/>
              </a:ext>
            </a:extLst>
          </p:cNvPr>
          <p:cNvSpPr>
            <a:spLocks xmlns:a="http://schemas.openxmlformats.org/drawingml/2006/main" noGrp="1"/>
          </p:cNvSpPr>
          <p:nvPr/>
        </p:nvSpPr>
        <p:spPr>
          <a:xfrm xmlns:a="http://schemas.openxmlformats.org/drawingml/2006/main">
            <a:off x="723900" y="2495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Report</a:t>
            </a:r>
          </a:p>
        </p:txBody>
      </p:sp>
      <p:sp>
        <p:nvSpPr>
          <p:cNvPr id="7" name="Location, time&#10;and incident type">
            <a:extLst xmlns:a="http://schemas.openxmlformats.org/drawingml/2006/main">
              <a:ext uri="{FF2B5EF4-FFF2-40B4-BE49-F238E27FC236}">
                <a16:creationId xmlns:a16="http://schemas.microsoft.com/office/drawing/2014/main" id="{5759555B-B842-4EC9-A819-7DCC095647A9}"/>
              </a:ext>
            </a:extLst>
          </p:cNvPr>
          <p:cNvSpPr>
            <a:spLocks xmlns:a="http://schemas.openxmlformats.org/drawingml/2006/main" noGrp="1"/>
          </p:cNvSpPr>
          <p:nvPr/>
        </p:nvSpPr>
        <p:spPr>
          <a:xfrm xmlns:a="http://schemas.openxmlformats.org/drawingml/2006/main">
            <a:off x="723900" y="290512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Location, time</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and incident type</a:t>
            </a:r>
          </a:p>
        </p:txBody>
      </p:sp>
      <p:sp>
        <p:nvSpPr>
          <p:cNvPr id="8" name="">
            <a:extLst xmlns:a="http://schemas.openxmlformats.org/drawingml/2006/main">
              <a:ext uri="{FF2B5EF4-FFF2-40B4-BE49-F238E27FC236}">
                <a16:creationId xmlns:a16="http://schemas.microsoft.com/office/drawing/2014/main" id="{C9CEC346-A6C9-4BA1-955B-3E4CF2CB962F}"/>
              </a:ext>
            </a:extLst>
          </p:cNvPr>
          <p:cNvSpPr>
            <a:spLocks xmlns:a="http://schemas.openxmlformats.org/drawingml/2006/main" noGrp="1"/>
          </p:cNvSpPr>
          <p:nvPr/>
        </p:nvSpPr>
        <p:spPr>
          <a:xfrm xmlns:a="http://schemas.openxmlformats.org/drawingml/2006/main">
            <a:off x="2819400" y="2362200"/>
            <a:ext cx="2000250"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108A68"/>
            </a:solidFill>
          </a:ln>
        </p:spPr>
      </p:sp>
      <p:sp>
        <p:nvSpPr>
          <p:cNvPr id="9" name="Verify">
            <a:extLst xmlns:a="http://schemas.openxmlformats.org/drawingml/2006/main">
              <a:ext uri="{FF2B5EF4-FFF2-40B4-BE49-F238E27FC236}">
                <a16:creationId xmlns:a16="http://schemas.microsoft.com/office/drawing/2014/main" id="{C79EB71E-B1BC-468F-B74A-185EFDF6035B}"/>
              </a:ext>
            </a:extLst>
          </p:cNvPr>
          <p:cNvSpPr>
            <a:spLocks xmlns:a="http://schemas.openxmlformats.org/drawingml/2006/main" noGrp="1"/>
          </p:cNvSpPr>
          <p:nvPr/>
        </p:nvSpPr>
        <p:spPr>
          <a:xfrm xmlns:a="http://schemas.openxmlformats.org/drawingml/2006/main">
            <a:off x="2971800" y="2495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Verify</a:t>
            </a:r>
          </a:p>
        </p:txBody>
      </p:sp>
      <p:sp>
        <p:nvSpPr>
          <p:cNvPr id="10" name="Authority reviews&#10;the evidence">
            <a:extLst xmlns:a="http://schemas.openxmlformats.org/drawingml/2006/main">
              <a:ext uri="{FF2B5EF4-FFF2-40B4-BE49-F238E27FC236}">
                <a16:creationId xmlns:a16="http://schemas.microsoft.com/office/drawing/2014/main" id="{5E392AC9-93A7-4852-9F86-44B006626C8C}"/>
              </a:ext>
            </a:extLst>
          </p:cNvPr>
          <p:cNvSpPr>
            <a:spLocks xmlns:a="http://schemas.openxmlformats.org/drawingml/2006/main" noGrp="1"/>
          </p:cNvSpPr>
          <p:nvPr/>
        </p:nvSpPr>
        <p:spPr>
          <a:xfrm xmlns:a="http://schemas.openxmlformats.org/drawingml/2006/main">
            <a:off x="2971800" y="290512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Authority reviews</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the evidence</a:t>
            </a:r>
          </a:p>
        </p:txBody>
      </p:sp>
      <p:sp>
        <p:nvSpPr>
          <p:cNvPr id="11" name="">
            <a:extLst xmlns:a="http://schemas.openxmlformats.org/drawingml/2006/main">
              <a:ext uri="{FF2B5EF4-FFF2-40B4-BE49-F238E27FC236}">
                <a16:creationId xmlns:a16="http://schemas.microsoft.com/office/drawing/2014/main" id="{8B5A39C0-005B-4C2D-B8A2-2C3282E5308E}"/>
              </a:ext>
            </a:extLst>
          </p:cNvPr>
          <p:cNvSpPr>
            <a:spLocks xmlns:a="http://schemas.openxmlformats.org/drawingml/2006/main" noGrp="1"/>
          </p:cNvSpPr>
          <p:nvPr/>
        </p:nvSpPr>
        <p:spPr>
          <a:xfrm xmlns:a="http://schemas.openxmlformats.org/drawingml/2006/main">
            <a:off x="5067300" y="2362200"/>
            <a:ext cx="2000250"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0076BA"/>
            </a:solidFill>
          </a:ln>
        </p:spPr>
      </p:sp>
      <p:sp>
        <p:nvSpPr>
          <p:cNvPr id="12" name="Score">
            <a:extLst xmlns:a="http://schemas.openxmlformats.org/drawingml/2006/main">
              <a:ext uri="{FF2B5EF4-FFF2-40B4-BE49-F238E27FC236}">
                <a16:creationId xmlns:a16="http://schemas.microsoft.com/office/drawing/2014/main" id="{047312EF-0B15-406A-A7D1-52F12AB2C0A4}"/>
              </a:ext>
            </a:extLst>
          </p:cNvPr>
          <p:cNvSpPr>
            <a:spLocks xmlns:a="http://schemas.openxmlformats.org/drawingml/2006/main" noGrp="1"/>
          </p:cNvSpPr>
          <p:nvPr/>
        </p:nvSpPr>
        <p:spPr>
          <a:xfrm xmlns:a="http://schemas.openxmlformats.org/drawingml/2006/main">
            <a:off x="5219700" y="2495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Score</a:t>
            </a:r>
          </a:p>
        </p:txBody>
      </p:sp>
      <p:sp>
        <p:nvSpPr>
          <p:cNvPr id="13" name="Weight verified&#10;recent reports">
            <a:extLst xmlns:a="http://schemas.openxmlformats.org/drawingml/2006/main">
              <a:ext uri="{FF2B5EF4-FFF2-40B4-BE49-F238E27FC236}">
                <a16:creationId xmlns:a16="http://schemas.microsoft.com/office/drawing/2014/main" id="{146FCB79-F5C5-4B76-BFC7-1FB749400752}"/>
              </a:ext>
            </a:extLst>
          </p:cNvPr>
          <p:cNvSpPr>
            <a:spLocks xmlns:a="http://schemas.openxmlformats.org/drawingml/2006/main" noGrp="1"/>
          </p:cNvSpPr>
          <p:nvPr/>
        </p:nvSpPr>
        <p:spPr>
          <a:xfrm xmlns:a="http://schemas.openxmlformats.org/drawingml/2006/main">
            <a:off x="5219700" y="290512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Weight verified</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recent reports</a:t>
            </a:r>
          </a:p>
        </p:txBody>
      </p:sp>
      <p:sp>
        <p:nvSpPr>
          <p:cNvPr id="14" name="">
            <a:extLst xmlns:a="http://schemas.openxmlformats.org/drawingml/2006/main">
              <a:ext uri="{FF2B5EF4-FFF2-40B4-BE49-F238E27FC236}">
                <a16:creationId xmlns:a16="http://schemas.microsoft.com/office/drawing/2014/main" id="{9037D107-95F7-4817-B5A9-C20F2F25E5E8}"/>
              </a:ext>
            </a:extLst>
          </p:cNvPr>
          <p:cNvSpPr>
            <a:spLocks xmlns:a="http://schemas.openxmlformats.org/drawingml/2006/main" noGrp="1"/>
          </p:cNvSpPr>
          <p:nvPr/>
        </p:nvSpPr>
        <p:spPr>
          <a:xfrm xmlns:a="http://schemas.openxmlformats.org/drawingml/2006/main">
            <a:off x="7315200" y="2362200"/>
            <a:ext cx="2000250"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0076BA"/>
            </a:solidFill>
          </a:ln>
        </p:spPr>
      </p:sp>
      <p:sp>
        <p:nvSpPr>
          <p:cNvPr id="15" name="Inform">
            <a:extLst xmlns:a="http://schemas.openxmlformats.org/drawingml/2006/main">
              <a:ext uri="{FF2B5EF4-FFF2-40B4-BE49-F238E27FC236}">
                <a16:creationId xmlns:a16="http://schemas.microsoft.com/office/drawing/2014/main" id="{CE73D76F-411A-47E3-9FCE-07D71547B48B}"/>
              </a:ext>
            </a:extLst>
          </p:cNvPr>
          <p:cNvSpPr>
            <a:spLocks xmlns:a="http://schemas.openxmlformats.org/drawingml/2006/main" noGrp="1"/>
          </p:cNvSpPr>
          <p:nvPr/>
        </p:nvSpPr>
        <p:spPr>
          <a:xfrm xmlns:a="http://schemas.openxmlformats.org/drawingml/2006/main">
            <a:off x="7467600" y="2495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Inform</a:t>
            </a:r>
          </a:p>
        </p:txBody>
      </p:sp>
      <p:sp>
        <p:nvSpPr>
          <p:cNvPr id="16" name="Risk views&#10;and alerts">
            <a:extLst xmlns:a="http://schemas.openxmlformats.org/drawingml/2006/main">
              <a:ext uri="{FF2B5EF4-FFF2-40B4-BE49-F238E27FC236}">
                <a16:creationId xmlns:a16="http://schemas.microsoft.com/office/drawing/2014/main" id="{3E91107D-6B37-4914-8B24-311970FFEB01}"/>
              </a:ext>
            </a:extLst>
          </p:cNvPr>
          <p:cNvSpPr>
            <a:spLocks xmlns:a="http://schemas.openxmlformats.org/drawingml/2006/main" noGrp="1"/>
          </p:cNvSpPr>
          <p:nvPr/>
        </p:nvSpPr>
        <p:spPr>
          <a:xfrm xmlns:a="http://schemas.openxmlformats.org/drawingml/2006/main">
            <a:off x="7467600" y="290512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Risk views</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and alerts</a:t>
            </a:r>
          </a:p>
        </p:txBody>
      </p:sp>
      <p:sp>
        <p:nvSpPr>
          <p:cNvPr id="17" name="">
            <a:extLst xmlns:a="http://schemas.openxmlformats.org/drawingml/2006/main">
              <a:ext uri="{FF2B5EF4-FFF2-40B4-BE49-F238E27FC236}">
                <a16:creationId xmlns:a16="http://schemas.microsoft.com/office/drawing/2014/main" id="{32C1C22E-90C4-4E34-B219-7E89ED7F856A}"/>
              </a:ext>
            </a:extLst>
          </p:cNvPr>
          <p:cNvSpPr>
            <a:spLocks xmlns:a="http://schemas.openxmlformats.org/drawingml/2006/main" noGrp="1"/>
          </p:cNvSpPr>
          <p:nvPr/>
        </p:nvSpPr>
        <p:spPr>
          <a:xfrm xmlns:a="http://schemas.openxmlformats.org/drawingml/2006/main">
            <a:off x="9563100" y="2362200"/>
            <a:ext cx="2000250"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108A68"/>
            </a:solidFill>
          </a:ln>
        </p:spPr>
      </p:sp>
      <p:sp>
        <p:nvSpPr>
          <p:cNvPr id="18" name="Act">
            <a:extLst xmlns:a="http://schemas.openxmlformats.org/drawingml/2006/main">
              <a:ext uri="{FF2B5EF4-FFF2-40B4-BE49-F238E27FC236}">
                <a16:creationId xmlns:a16="http://schemas.microsoft.com/office/drawing/2014/main" id="{22CF5BC7-87BC-48E5-8444-2B27EC700865}"/>
              </a:ext>
            </a:extLst>
          </p:cNvPr>
          <p:cNvSpPr>
            <a:spLocks xmlns:a="http://schemas.openxmlformats.org/drawingml/2006/main" noGrp="1"/>
          </p:cNvSpPr>
          <p:nvPr/>
        </p:nvSpPr>
        <p:spPr>
          <a:xfrm xmlns:a="http://schemas.openxmlformats.org/drawingml/2006/main">
            <a:off x="9715500" y="2495550"/>
            <a:ext cx="1695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Act</a:t>
            </a:r>
          </a:p>
        </p:txBody>
      </p:sp>
      <p:sp>
        <p:nvSpPr>
          <p:cNvPr id="19" name="Field response&#10;and follow-up">
            <a:extLst xmlns:a="http://schemas.openxmlformats.org/drawingml/2006/main">
              <a:ext uri="{FF2B5EF4-FFF2-40B4-BE49-F238E27FC236}">
                <a16:creationId xmlns:a16="http://schemas.microsoft.com/office/drawing/2014/main" id="{69025AA6-490F-4EDB-BF23-E7C2F7968D7D}"/>
              </a:ext>
            </a:extLst>
          </p:cNvPr>
          <p:cNvSpPr>
            <a:spLocks xmlns:a="http://schemas.openxmlformats.org/drawingml/2006/main" noGrp="1"/>
          </p:cNvSpPr>
          <p:nvPr/>
        </p:nvSpPr>
        <p:spPr>
          <a:xfrm xmlns:a="http://schemas.openxmlformats.org/drawingml/2006/main">
            <a:off x="9715500" y="290512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Field response</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and follow-up</a:t>
            </a:r>
          </a:p>
        </p:txBody>
      </p:sp>
      <p:cxnSp>
        <p:nvCxnSpPr>
          <p:cNvPr id="48" name=""/>
          <p:cNvCxnSpPr>
            <a:stCxn xmlns:a="http://schemas.openxmlformats.org/drawingml/2006/main" id="5" idx="3"/>
            <a:endCxn xmlns:a="http://schemas.openxmlformats.org/drawingml/2006/main" id="8" idx="1"/>
          </p:cNvCxnSpPr>
          <p:nvPr/>
        </p:nvCxnSpPr>
        <p:spPr>
          <a:xfrm xmlns:a="http://schemas.openxmlformats.org/drawingml/2006/main">
            <a:off x="2571750" y="3028950"/>
            <a:ext cx="247650"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49" name=""/>
          <p:cNvCxnSpPr>
            <a:stCxn xmlns:a="http://schemas.openxmlformats.org/drawingml/2006/main" id="8" idx="3"/>
            <a:endCxn xmlns:a="http://schemas.openxmlformats.org/drawingml/2006/main" id="11" idx="1"/>
          </p:cNvCxnSpPr>
          <p:nvPr/>
        </p:nvCxnSpPr>
        <p:spPr>
          <a:xfrm xmlns:a="http://schemas.openxmlformats.org/drawingml/2006/main">
            <a:off x="4819650" y="3028950"/>
            <a:ext cx="247650"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50" name=""/>
          <p:cNvCxnSpPr>
            <a:stCxn xmlns:a="http://schemas.openxmlformats.org/drawingml/2006/main" id="11" idx="3"/>
            <a:endCxn xmlns:a="http://schemas.openxmlformats.org/drawingml/2006/main" id="14" idx="1"/>
          </p:cNvCxnSpPr>
          <p:nvPr/>
        </p:nvCxnSpPr>
        <p:spPr>
          <a:xfrm xmlns:a="http://schemas.openxmlformats.org/drawingml/2006/main">
            <a:off x="7067550" y="3028950"/>
            <a:ext cx="247650"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51" name=""/>
          <p:cNvCxnSpPr>
            <a:stCxn xmlns:a="http://schemas.openxmlformats.org/drawingml/2006/main" id="14" idx="3"/>
            <a:endCxn xmlns:a="http://schemas.openxmlformats.org/drawingml/2006/main" id="17" idx="1"/>
          </p:cNvCxnSpPr>
          <p:nvPr/>
        </p:nvCxnSpPr>
        <p:spPr>
          <a:xfrm xmlns:a="http://schemas.openxmlformats.org/drawingml/2006/main">
            <a:off x="9315450" y="3028950"/>
            <a:ext cx="247650" cy="0"/>
          </a:xfrm>
          <a:prstGeom xmlns:a="http://schemas.openxmlformats.org/drawingml/2006/main" prst="straightConnector1">
            <a:avLst/>
          </a:prstGeom>
          <a:ln xmlns:a="http://schemas.openxmlformats.org/drawingml/2006/main" w="23813">
            <a:solidFill>
              <a:srgbClr val="0076BA"/>
            </a:solidFill>
            <a:headEnd type="arrow" w="med" len="med"/>
          </a:ln>
        </p:spPr>
      </p:cxnSp>
      <p:sp>
        <p:nvSpPr>
          <p:cNvPr id="24" name="Risk calculation">
            <a:extLst xmlns:a="http://schemas.openxmlformats.org/drawingml/2006/main">
              <a:ext uri="{FF2B5EF4-FFF2-40B4-BE49-F238E27FC236}">
                <a16:creationId xmlns:a16="http://schemas.microsoft.com/office/drawing/2014/main" id="{F3CF3907-CEF5-48A8-9A5C-3E224BCC3B50}"/>
              </a:ext>
            </a:extLst>
          </p:cNvPr>
          <p:cNvSpPr>
            <a:spLocks xmlns:a="http://schemas.openxmlformats.org/drawingml/2006/main" noGrp="1"/>
          </p:cNvSpPr>
          <p:nvPr/>
        </p:nvSpPr>
        <p:spPr>
          <a:xfrm xmlns:a="http://schemas.openxmlformats.org/drawingml/2006/main">
            <a:off x="600075" y="427672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Risk calculation</a:t>
            </a:r>
          </a:p>
        </p:txBody>
      </p:sp>
      <p:sp>
        <p:nvSpPr>
          <p:cNvPr id="25" name="Severity, age, trust and local context contribute to the sco">
            <a:extLst xmlns:a="http://schemas.openxmlformats.org/drawingml/2006/main">
              <a:ext uri="{FF2B5EF4-FFF2-40B4-BE49-F238E27FC236}">
                <a16:creationId xmlns:a16="http://schemas.microsoft.com/office/drawing/2014/main" id="{C1D135E5-9544-40A3-B9C9-B85F1367AC70}"/>
              </a:ext>
            </a:extLst>
          </p:cNvPr>
          <p:cNvSpPr>
            <a:spLocks xmlns:a="http://schemas.openxmlformats.org/drawingml/2006/main" noGrp="1"/>
          </p:cNvSpPr>
          <p:nvPr/>
        </p:nvSpPr>
        <p:spPr>
          <a:xfrm xmlns:a="http://schemas.openxmlformats.org/drawingml/2006/main">
            <a:off x="619125" y="4838700"/>
            <a:ext cx="50101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Severity, age, trust and local context contribute to the score. Older incidents lose weight over time.</a:t>
            </a:r>
          </a:p>
        </p:txBody>
      </p:sp>
      <p:sp>
        <p:nvSpPr>
          <p:cNvPr id="26" name="Confidence stays visible">
            <a:extLst xmlns:a="http://schemas.openxmlformats.org/drawingml/2006/main">
              <a:ext uri="{FF2B5EF4-FFF2-40B4-BE49-F238E27FC236}">
                <a16:creationId xmlns:a16="http://schemas.microsoft.com/office/drawing/2014/main" id="{7ED3B435-9955-422C-A8F2-B269E93B85C9}"/>
              </a:ext>
            </a:extLst>
          </p:cNvPr>
          <p:cNvSpPr>
            <a:spLocks xmlns:a="http://schemas.openxmlformats.org/drawingml/2006/main" noGrp="1"/>
          </p:cNvSpPr>
          <p:nvPr/>
        </p:nvSpPr>
        <p:spPr>
          <a:xfrm xmlns:a="http://schemas.openxmlformats.org/drawingml/2006/main">
            <a:off x="6381750" y="427672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Confidence stays visible</a:t>
            </a:r>
          </a:p>
        </p:txBody>
      </p:sp>
      <p:sp>
        <p:nvSpPr>
          <p:cNvPr id="27" name="The verified report count indicates evidence strength. No re">
            <a:extLst xmlns:a="http://schemas.openxmlformats.org/drawingml/2006/main">
              <a:ext uri="{FF2B5EF4-FFF2-40B4-BE49-F238E27FC236}">
                <a16:creationId xmlns:a16="http://schemas.microsoft.com/office/drawing/2014/main" id="{8ECBCC0D-81B0-4FFE-9725-BF308B469E89}"/>
              </a:ext>
            </a:extLst>
          </p:cNvPr>
          <p:cNvSpPr>
            <a:spLocks xmlns:a="http://schemas.openxmlformats.org/drawingml/2006/main" noGrp="1"/>
          </p:cNvSpPr>
          <p:nvPr/>
        </p:nvSpPr>
        <p:spPr>
          <a:xfrm xmlns:a="http://schemas.openxmlformats.org/drawingml/2006/main">
            <a:off x="6400800" y="483870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The verified report count indicates evidence strength. No reports means unknown risk.</a:t>
            </a:r>
          </a:p>
        </p:txBody>
      </p:sp>
      <p:sp>
        <p:nvSpPr>
          <p:cNvPr id="28" name="Decision support only. The score does not predict an individ">
            <a:extLst xmlns:a="http://schemas.openxmlformats.org/drawingml/2006/main">
              <a:ext uri="{FF2B5EF4-FFF2-40B4-BE49-F238E27FC236}">
                <a16:creationId xmlns:a16="http://schemas.microsoft.com/office/drawing/2014/main" id="{2C4F1433-13A0-4B4A-B5B3-4843AD8F6CA0}"/>
              </a:ext>
            </a:extLst>
          </p:cNvPr>
          <p:cNvSpPr>
            <a:spLocks xmlns:a="http://schemas.openxmlformats.org/drawingml/2006/main" noGrp="1"/>
          </p:cNvSpPr>
          <p:nvPr/>
        </p:nvSpPr>
        <p:spPr>
          <a:xfrm xmlns:a="http://schemas.openxmlformats.org/drawingml/2006/main">
            <a:off x="609600" y="62484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Decision support only. The score does not predict an individual dog’s behaviour or guarantee route safety.</a:t>
            </a:r>
          </a:p>
        </p:txBody>
      </p:sp>
    </p:spTree>
    <p:extLst>
      <p:ext uri="{BB962C8B-B14F-4D97-AF65-F5344CB8AC3E}">
        <p14:creationId xmlns:p14="http://schemas.microsoft.com/office/powerpoint/2010/main" val="3957498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AWLYTICS">
            <a:extLst xmlns:a="http://schemas.openxmlformats.org/drawingml/2006/main">
              <a:ext uri="{FF2B5EF4-FFF2-40B4-BE49-F238E27FC236}">
                <a16:creationId xmlns:a16="http://schemas.microsoft.com/office/drawing/2014/main" id="{CFFFFD8B-9704-45FA-9CFC-1A9F202FE0F9}"/>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8">
            <a:extLst xmlns:a="http://schemas.openxmlformats.org/drawingml/2006/main">
              <a:ext uri="{FF2B5EF4-FFF2-40B4-BE49-F238E27FC236}">
                <a16:creationId xmlns:a16="http://schemas.microsoft.com/office/drawing/2014/main" id="{AFD9F2B3-1F58-4469-9735-FB4C3DCCF675}"/>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08</a:t>
            </a:r>
          </a:p>
        </p:txBody>
      </p:sp>
      <p:sp>
        <p:nvSpPr>
          <p:cNvPr id="3" name="Pilot plan and scale-up">
            <a:extLst xmlns:a="http://schemas.openxmlformats.org/drawingml/2006/main">
              <a:ext uri="{FF2B5EF4-FFF2-40B4-BE49-F238E27FC236}">
                <a16:creationId xmlns:a16="http://schemas.microsoft.com/office/drawing/2014/main" id="{135F9868-AD8E-44F8-83F7-6B49A50B6EA8}"/>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Pilot plan and scale-up</a:t>
            </a:r>
          </a:p>
        </p:txBody>
      </p:sp>
      <p:sp>
        <p:nvSpPr>
          <p:cNvPr id="4" name="Proposed milestones. Progress depends on field evidence and ">
            <a:extLst xmlns:a="http://schemas.openxmlformats.org/drawingml/2006/main">
              <a:ext uri="{FF2B5EF4-FFF2-40B4-BE49-F238E27FC236}">
                <a16:creationId xmlns:a16="http://schemas.microsoft.com/office/drawing/2014/main" id="{AF8C2E7C-1B50-4F76-9C0B-0F14BD4BDF39}"/>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Proposed milestones. Progress depends on field evidence and municipal participation.</a:t>
            </a:r>
          </a:p>
        </p:txBody>
      </p:sp>
      <p:sp>
        <p:nvSpPr>
          <p:cNvPr id="5" name="">
            <a:extLst xmlns:a="http://schemas.openxmlformats.org/drawingml/2006/main">
              <a:ext uri="{FF2B5EF4-FFF2-40B4-BE49-F238E27FC236}">
                <a16:creationId xmlns:a16="http://schemas.microsoft.com/office/drawing/2014/main" id="{0A1012C2-E294-4376-8898-0E5D79DC46CC}"/>
              </a:ext>
            </a:extLst>
          </p:cNvPr>
          <p:cNvSpPr>
            <a:spLocks xmlns:a="http://schemas.openxmlformats.org/drawingml/2006/main" noGrp="1"/>
          </p:cNvSpPr>
          <p:nvPr/>
        </p:nvSpPr>
        <p:spPr>
          <a:xfrm xmlns:a="http://schemas.openxmlformats.org/drawingml/2006/main">
            <a:off x="571500" y="2295525"/>
            <a:ext cx="3286125"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0076BA"/>
            </a:solidFill>
          </a:ln>
        </p:spPr>
      </p:sp>
      <p:sp>
        <p:nvSpPr>
          <p:cNvPr id="6" name="One ward">
            <a:extLst xmlns:a="http://schemas.openxmlformats.org/drawingml/2006/main">
              <a:ext uri="{FF2B5EF4-FFF2-40B4-BE49-F238E27FC236}">
                <a16:creationId xmlns:a16="http://schemas.microsoft.com/office/drawing/2014/main" id="{918AE838-5A1E-4FC8-A3DB-76C0721D5AD3}"/>
              </a:ext>
            </a:extLst>
          </p:cNvPr>
          <p:cNvSpPr>
            <a:spLocks xmlns:a="http://schemas.openxmlformats.org/drawingml/2006/main" noGrp="1"/>
          </p:cNvSpPr>
          <p:nvPr/>
        </p:nvSpPr>
        <p:spPr>
          <a:xfrm xmlns:a="http://schemas.openxmlformats.org/drawingml/2006/main">
            <a:off x="723900" y="2428875"/>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One ward</a:t>
            </a:r>
          </a:p>
        </p:txBody>
      </p:sp>
      <p:sp>
        <p:nvSpPr>
          <p:cNvPr id="7" name="Proposed seed target:&#10;150–250 ground-truth reports">
            <a:extLst xmlns:a="http://schemas.openxmlformats.org/drawingml/2006/main">
              <a:ext uri="{FF2B5EF4-FFF2-40B4-BE49-F238E27FC236}">
                <a16:creationId xmlns:a16="http://schemas.microsoft.com/office/drawing/2014/main" id="{9B965217-E591-454C-B611-AD1A7F283080}"/>
              </a:ext>
            </a:extLst>
          </p:cNvPr>
          <p:cNvSpPr>
            <a:spLocks xmlns:a="http://schemas.openxmlformats.org/drawingml/2006/main" noGrp="1"/>
          </p:cNvSpPr>
          <p:nvPr/>
        </p:nvSpPr>
        <p:spPr>
          <a:xfrm xmlns:a="http://schemas.openxmlformats.org/drawingml/2006/main">
            <a:off x="723900" y="2838450"/>
            <a:ext cx="298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Proposed seed target:</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150–250 ground-truth reports</a:t>
            </a:r>
          </a:p>
        </p:txBody>
      </p:sp>
      <p:sp>
        <p:nvSpPr>
          <p:cNvPr id="8" name="">
            <a:extLst xmlns:a="http://schemas.openxmlformats.org/drawingml/2006/main">
              <a:ext uri="{FF2B5EF4-FFF2-40B4-BE49-F238E27FC236}">
                <a16:creationId xmlns:a16="http://schemas.microsoft.com/office/drawing/2014/main" id="{D4273EAF-FD52-4C23-B383-69E436750E23}"/>
              </a:ext>
            </a:extLst>
          </p:cNvPr>
          <p:cNvSpPr>
            <a:spLocks xmlns:a="http://schemas.openxmlformats.org/drawingml/2006/main" noGrp="1"/>
          </p:cNvSpPr>
          <p:nvPr/>
        </p:nvSpPr>
        <p:spPr>
          <a:xfrm xmlns:a="http://schemas.openxmlformats.org/drawingml/2006/main">
            <a:off x="4448175" y="2295525"/>
            <a:ext cx="3286125"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108A68"/>
            </a:solidFill>
          </a:ln>
        </p:spPr>
      </p:sp>
      <p:sp>
        <p:nvSpPr>
          <p:cNvPr id="9" name="3–6 months">
            <a:extLst xmlns:a="http://schemas.openxmlformats.org/drawingml/2006/main">
              <a:ext uri="{FF2B5EF4-FFF2-40B4-BE49-F238E27FC236}">
                <a16:creationId xmlns:a16="http://schemas.microsoft.com/office/drawing/2014/main" id="{52DFE0FA-F873-4283-A606-8D5786AE6320}"/>
              </a:ext>
            </a:extLst>
          </p:cNvPr>
          <p:cNvSpPr>
            <a:spLocks xmlns:a="http://schemas.openxmlformats.org/drawingml/2006/main" noGrp="1"/>
          </p:cNvSpPr>
          <p:nvPr/>
        </p:nvSpPr>
        <p:spPr>
          <a:xfrm xmlns:a="http://schemas.openxmlformats.org/drawingml/2006/main">
            <a:off x="4600575" y="2428875"/>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08A68"/>
                </a:solidFill>
                <a:latin typeface="Arial"/>
                <a:ea typeface="Arial"/>
                <a:cs typeface="Arial"/>
              </a:defRPr>
            </a:pPr>
            <a:r>
              <a:rPr sz="1800" b="1">
                <a:solidFill>
                  <a:srgbClr val="108A68"/>
                </a:solidFill>
                <a:latin typeface="Arial"/>
                <a:ea typeface="Arial"/>
                <a:cs typeface="Arial"/>
              </a:rPr>
              <a:t>3–6 months</a:t>
            </a:r>
          </a:p>
        </p:txBody>
      </p:sp>
      <p:sp>
        <p:nvSpPr>
          <p:cNvPr id="10" name="Trust calibration and&#10;multi-ward validation">
            <a:extLst xmlns:a="http://schemas.openxmlformats.org/drawingml/2006/main">
              <a:ext uri="{FF2B5EF4-FFF2-40B4-BE49-F238E27FC236}">
                <a16:creationId xmlns:a16="http://schemas.microsoft.com/office/drawing/2014/main" id="{C095423F-259A-4ED1-ABE7-F0B047199663}"/>
              </a:ext>
            </a:extLst>
          </p:cNvPr>
          <p:cNvSpPr>
            <a:spLocks xmlns:a="http://schemas.openxmlformats.org/drawingml/2006/main" noGrp="1"/>
          </p:cNvSpPr>
          <p:nvPr/>
        </p:nvSpPr>
        <p:spPr>
          <a:xfrm xmlns:a="http://schemas.openxmlformats.org/drawingml/2006/main">
            <a:off x="4600575" y="2838450"/>
            <a:ext cx="298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Trust calibration and</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multi-ward validation</a:t>
            </a:r>
          </a:p>
        </p:txBody>
      </p:sp>
      <p:sp>
        <p:nvSpPr>
          <p:cNvPr id="11" name="">
            <a:extLst xmlns:a="http://schemas.openxmlformats.org/drawingml/2006/main">
              <a:ext uri="{FF2B5EF4-FFF2-40B4-BE49-F238E27FC236}">
                <a16:creationId xmlns:a16="http://schemas.microsoft.com/office/drawing/2014/main" id="{E737F2E6-2273-42E3-95A2-C2A32C3FFFC0}"/>
              </a:ext>
            </a:extLst>
          </p:cNvPr>
          <p:cNvSpPr>
            <a:spLocks xmlns:a="http://schemas.openxmlformats.org/drawingml/2006/main" noGrp="1"/>
          </p:cNvSpPr>
          <p:nvPr/>
        </p:nvSpPr>
        <p:spPr>
          <a:xfrm xmlns:a="http://schemas.openxmlformats.org/drawingml/2006/main">
            <a:off x="8334375" y="2295525"/>
            <a:ext cx="3286125" cy="1333500"/>
          </a:xfrm>
          <a:prstGeom xmlns:a="http://schemas.openxmlformats.org/drawingml/2006/main" prst="roundRect">
            <a:avLst>
              <a:gd name="adj" fmla="val 7143"/>
            </a:avLst>
          </a:prstGeom>
          <a:solidFill xmlns:a="http://schemas.openxmlformats.org/drawingml/2006/main">
            <a:srgbClr val="F1F7FA"/>
          </a:solidFill>
          <a:ln xmlns:a="http://schemas.openxmlformats.org/drawingml/2006/main" w="19050">
            <a:solidFill>
              <a:srgbClr val="0076BA"/>
            </a:solidFill>
          </a:ln>
        </p:spPr>
      </p:sp>
      <p:sp>
        <p:nvSpPr>
          <p:cNvPr id="12" name="12+ months">
            <a:extLst xmlns:a="http://schemas.openxmlformats.org/drawingml/2006/main">
              <a:ext uri="{FF2B5EF4-FFF2-40B4-BE49-F238E27FC236}">
                <a16:creationId xmlns:a16="http://schemas.microsoft.com/office/drawing/2014/main" id="{A309837E-0E6D-49B5-9A04-E8A621F6C5C1}"/>
              </a:ext>
            </a:extLst>
          </p:cNvPr>
          <p:cNvSpPr>
            <a:spLocks xmlns:a="http://schemas.openxmlformats.org/drawingml/2006/main" noGrp="1"/>
          </p:cNvSpPr>
          <p:nvPr/>
        </p:nvSpPr>
        <p:spPr>
          <a:xfrm xmlns:a="http://schemas.openxmlformats.org/drawingml/2006/main">
            <a:off x="8486775" y="2428875"/>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6BA"/>
                </a:solidFill>
                <a:latin typeface="Arial"/>
                <a:ea typeface="Arial"/>
                <a:cs typeface="Arial"/>
              </a:defRPr>
            </a:pPr>
            <a:r>
              <a:rPr sz="1800" b="1">
                <a:solidFill>
                  <a:srgbClr val="0076BA"/>
                </a:solidFill>
                <a:latin typeface="Arial"/>
                <a:ea typeface="Arial"/>
                <a:cs typeface="Arial"/>
              </a:rPr>
              <a:t>12+ months</a:t>
            </a:r>
          </a:p>
        </p:txBody>
      </p:sp>
      <p:sp>
        <p:nvSpPr>
          <p:cNvPr id="13" name="Authorized data feeds and&#10;forecasting research">
            <a:extLst xmlns:a="http://schemas.openxmlformats.org/drawingml/2006/main">
              <a:ext uri="{FF2B5EF4-FFF2-40B4-BE49-F238E27FC236}">
                <a16:creationId xmlns:a16="http://schemas.microsoft.com/office/drawing/2014/main" id="{27DB0F8C-7330-4597-8F17-88B63B14DE9D}"/>
              </a:ext>
            </a:extLst>
          </p:cNvPr>
          <p:cNvSpPr>
            <a:spLocks xmlns:a="http://schemas.openxmlformats.org/drawingml/2006/main" noGrp="1"/>
          </p:cNvSpPr>
          <p:nvPr/>
        </p:nvSpPr>
        <p:spPr>
          <a:xfrm xmlns:a="http://schemas.openxmlformats.org/drawingml/2006/main">
            <a:off x="8486775" y="2838450"/>
            <a:ext cx="2981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Authorized data feeds and</a:t>
            </a:r>
          </a:p>
          <a:p xmlns:a="http://schemas.openxmlformats.org/drawingml/2006/main">
            <a:pPr>
              <a:defRPr sz="1425" b="0">
                <a:solidFill>
                  <a:srgbClr val="182B3A"/>
                </a:solidFill>
                <a:latin typeface="Arial"/>
                <a:ea typeface="Arial"/>
                <a:cs typeface="Arial"/>
              </a:defRPr>
            </a:pPr>
            <a:r>
              <a:rPr sz="1425" b="0">
                <a:solidFill>
                  <a:srgbClr val="182B3A"/>
                </a:solidFill>
                <a:latin typeface="Arial"/>
                <a:ea typeface="Arial"/>
                <a:cs typeface="Arial"/>
              </a:rPr>
              <a:t>forecasting research</a:t>
            </a:r>
          </a:p>
        </p:txBody>
      </p:sp>
      <p:cxnSp>
        <p:nvCxnSpPr>
          <p:cNvPr id="34" name=""/>
          <p:cNvCxnSpPr>
            <a:stCxn xmlns:a="http://schemas.openxmlformats.org/drawingml/2006/main" id="5" idx="3"/>
            <a:endCxn xmlns:a="http://schemas.openxmlformats.org/drawingml/2006/main" id="8" idx="1"/>
          </p:cNvCxnSpPr>
          <p:nvPr/>
        </p:nvCxnSpPr>
        <p:spPr>
          <a:xfrm xmlns:a="http://schemas.openxmlformats.org/drawingml/2006/main">
            <a:off x="3857625" y="2962275"/>
            <a:ext cx="590550" cy="0"/>
          </a:xfrm>
          <a:prstGeom xmlns:a="http://schemas.openxmlformats.org/drawingml/2006/main" prst="straightConnector1">
            <a:avLst/>
          </a:prstGeom>
          <a:ln xmlns:a="http://schemas.openxmlformats.org/drawingml/2006/main" w="23813">
            <a:solidFill>
              <a:srgbClr val="0076BA"/>
            </a:solidFill>
            <a:headEnd type="arrow" w="med" len="med"/>
          </a:ln>
        </p:spPr>
      </p:cxnSp>
      <p:cxnSp>
        <p:nvCxnSpPr>
          <p:cNvPr id="35" name=""/>
          <p:cNvCxnSpPr>
            <a:stCxn xmlns:a="http://schemas.openxmlformats.org/drawingml/2006/main" id="8" idx="3"/>
            <a:endCxn xmlns:a="http://schemas.openxmlformats.org/drawingml/2006/main" id="11" idx="1"/>
          </p:cNvCxnSpPr>
          <p:nvPr/>
        </p:nvCxnSpPr>
        <p:spPr>
          <a:xfrm xmlns:a="http://schemas.openxmlformats.org/drawingml/2006/main">
            <a:off x="7734300" y="2962275"/>
            <a:ext cx="600075" cy="0"/>
          </a:xfrm>
          <a:prstGeom xmlns:a="http://schemas.openxmlformats.org/drawingml/2006/main" prst="straightConnector1">
            <a:avLst/>
          </a:prstGeom>
          <a:ln xmlns:a="http://schemas.openxmlformats.org/drawingml/2006/main" w="23813">
            <a:solidFill>
              <a:srgbClr val="0076BA"/>
            </a:solidFill>
            <a:headEnd type="arrow" w="med" len="med"/>
          </a:ln>
        </p:spPr>
      </p:cxnSp>
      <p:sp>
        <p:nvSpPr>
          <p:cNvPr id="16" name="Pilot success measures">
            <a:extLst xmlns:a="http://schemas.openxmlformats.org/drawingml/2006/main">
              <a:ext uri="{FF2B5EF4-FFF2-40B4-BE49-F238E27FC236}">
                <a16:creationId xmlns:a16="http://schemas.microsoft.com/office/drawing/2014/main" id="{75D69A4F-83E2-43A1-84BF-52D646FD467A}"/>
              </a:ext>
            </a:extLst>
          </p:cNvPr>
          <p:cNvSpPr>
            <a:spLocks xmlns:a="http://schemas.openxmlformats.org/drawingml/2006/main" noGrp="1"/>
          </p:cNvSpPr>
          <p:nvPr/>
        </p:nvSpPr>
        <p:spPr>
          <a:xfrm xmlns:a="http://schemas.openxmlformats.org/drawingml/2006/main">
            <a:off x="609600" y="42100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Pilot success measures</a:t>
            </a:r>
          </a:p>
        </p:txBody>
      </p:sp>
      <p:sp>
        <p:nvSpPr>
          <p:cNvPr id="17" name="Verification turnaround&#10;Report location quality&#10;Action closu">
            <a:extLst xmlns:a="http://schemas.openxmlformats.org/drawingml/2006/main">
              <a:ext uri="{FF2B5EF4-FFF2-40B4-BE49-F238E27FC236}">
                <a16:creationId xmlns:a16="http://schemas.microsoft.com/office/drawing/2014/main" id="{C1F90A21-0A72-48F2-94DB-524E73FCD088}"/>
              </a:ext>
            </a:extLst>
          </p:cNvPr>
          <p:cNvSpPr>
            <a:spLocks xmlns:a="http://schemas.openxmlformats.org/drawingml/2006/main" noGrp="1"/>
          </p:cNvSpPr>
          <p:nvPr/>
        </p:nvSpPr>
        <p:spPr>
          <a:xfrm xmlns:a="http://schemas.openxmlformats.org/drawingml/2006/main">
            <a:off x="619125" y="4810125"/>
            <a:ext cx="4953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Verification turnaround</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Report location quality</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Action closure time</a:t>
            </a:r>
          </a:p>
        </p:txBody>
      </p:sp>
      <p:sp>
        <p:nvSpPr>
          <p:cNvPr id="18" name="Conditions for expansion">
            <a:extLst xmlns:a="http://schemas.openxmlformats.org/drawingml/2006/main">
              <a:ext uri="{FF2B5EF4-FFF2-40B4-BE49-F238E27FC236}">
                <a16:creationId xmlns:a16="http://schemas.microsoft.com/office/drawing/2014/main" id="{4987079D-3A1F-449B-A309-0298B9F55077}"/>
              </a:ext>
            </a:extLst>
          </p:cNvPr>
          <p:cNvSpPr>
            <a:spLocks xmlns:a="http://schemas.openxmlformats.org/drawingml/2006/main" noGrp="1"/>
          </p:cNvSpPr>
          <p:nvPr/>
        </p:nvSpPr>
        <p:spPr>
          <a:xfrm xmlns:a="http://schemas.openxmlformats.org/drawingml/2006/main">
            <a:off x="6400800" y="421005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73B60"/>
                </a:solidFill>
                <a:latin typeface="Arial"/>
                <a:ea typeface="Arial"/>
                <a:cs typeface="Arial"/>
              </a:defRPr>
            </a:pPr>
            <a:r>
              <a:rPr sz="2250" b="1">
                <a:solidFill>
                  <a:srgbClr val="073B60"/>
                </a:solidFill>
                <a:latin typeface="Arial"/>
                <a:ea typeface="Arial"/>
                <a:cs typeface="Arial"/>
              </a:rPr>
              <a:t>Conditions for expansion</a:t>
            </a:r>
          </a:p>
        </p:txBody>
      </p:sp>
      <p:sp>
        <p:nvSpPr>
          <p:cNvPr id="19" name="Named field verification partners&#10;Reliable ward coverage&#10;Dat">
            <a:extLst xmlns:a="http://schemas.openxmlformats.org/drawingml/2006/main">
              <a:ext uri="{FF2B5EF4-FFF2-40B4-BE49-F238E27FC236}">
                <a16:creationId xmlns:a16="http://schemas.microsoft.com/office/drawing/2014/main" id="{37B2CEB9-5990-4DB6-A8E6-B945E691A87E}"/>
              </a:ext>
            </a:extLst>
          </p:cNvPr>
          <p:cNvSpPr>
            <a:spLocks xmlns:a="http://schemas.openxmlformats.org/drawingml/2006/main" noGrp="1"/>
          </p:cNvSpPr>
          <p:nvPr/>
        </p:nvSpPr>
        <p:spPr>
          <a:xfrm xmlns:a="http://schemas.openxmlformats.org/drawingml/2006/main">
            <a:off x="6419850" y="4810125"/>
            <a:ext cx="4953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Named field verification partners</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Reliable ward coverage</a:t>
            </a:r>
          </a:p>
          <a:p xmlns:a="http://schemas.openxmlformats.org/drawingml/2006/main">
            <a:pPr>
              <a:defRPr sz="2025" b="0">
                <a:solidFill>
                  <a:srgbClr val="182B3A"/>
                </a:solidFill>
                <a:latin typeface="Arial"/>
                <a:ea typeface="Arial"/>
                <a:cs typeface="Arial"/>
              </a:defRPr>
            </a:pPr>
            <a:r>
              <a:rPr sz="2025" b="0">
                <a:solidFill>
                  <a:srgbClr val="182B3A"/>
                </a:solidFill>
                <a:latin typeface="Arial"/>
                <a:ea typeface="Arial"/>
                <a:cs typeface="Arial"/>
              </a:rPr>
              <a:t>Data-sharing agreements</a:t>
            </a:r>
          </a:p>
        </p:txBody>
      </p:sp>
      <p:sp>
        <p:nvSpPr>
          <p:cNvPr id="20" name="The first pilot should establish a baseline before claiming ">
            <a:extLst xmlns:a="http://schemas.openxmlformats.org/drawingml/2006/main">
              <a:ext uri="{FF2B5EF4-FFF2-40B4-BE49-F238E27FC236}">
                <a16:creationId xmlns:a16="http://schemas.microsoft.com/office/drawing/2014/main" id="{0A3CF241-1DBE-44AC-B6EA-C5E55523897B}"/>
              </a:ext>
            </a:extLst>
          </p:cNvPr>
          <p:cNvSpPr>
            <a:spLocks xmlns:a="http://schemas.openxmlformats.org/drawingml/2006/main" noGrp="1"/>
          </p:cNvSpPr>
          <p:nvPr/>
        </p:nvSpPr>
        <p:spPr>
          <a:xfrm xmlns:a="http://schemas.openxmlformats.org/drawingml/2006/main">
            <a:off x="609600" y="6276975"/>
            <a:ext cx="1057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B79"/>
                </a:solidFill>
                <a:latin typeface="Arial"/>
                <a:ea typeface="Arial"/>
                <a:cs typeface="Arial"/>
              </a:defRPr>
            </a:pPr>
            <a:r>
              <a:rPr sz="1350" b="0">
                <a:solidFill>
                  <a:srgbClr val="586B79"/>
                </a:solidFill>
                <a:latin typeface="Arial"/>
                <a:ea typeface="Arial"/>
                <a:cs typeface="Arial"/>
              </a:rPr>
              <a:t>The first pilot should establish a baseline before claiming a reduction in incidents.</a:t>
            </a:r>
          </a:p>
        </p:txBody>
      </p:sp>
    </p:spTree>
    <p:extLst>
      <p:ext uri="{BB962C8B-B14F-4D97-AF65-F5344CB8AC3E}">
        <p14:creationId xmlns:p14="http://schemas.microsoft.com/office/powerpoint/2010/main" val="3742265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AWLYTICS">
            <a:extLst xmlns:a="http://schemas.openxmlformats.org/drawingml/2006/main">
              <a:ext uri="{FF2B5EF4-FFF2-40B4-BE49-F238E27FC236}">
                <a16:creationId xmlns:a16="http://schemas.microsoft.com/office/drawing/2014/main" id="{6F780DF6-5220-4635-942E-368841808951}"/>
              </a:ext>
            </a:extLst>
          </p:cNvPr>
          <p:cNvSpPr>
            <a:spLocks xmlns:a="http://schemas.openxmlformats.org/drawingml/2006/main" noGrp="1"/>
          </p:cNvSpPr>
          <p:nvPr/>
        </p:nvSpPr>
        <p:spPr>
          <a:xfrm xmlns:a="http://schemas.openxmlformats.org/drawingml/2006/main">
            <a:off x="571500" y="238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6BA"/>
                </a:solidFill>
                <a:latin typeface="Arial"/>
                <a:ea typeface="Arial"/>
                <a:cs typeface="Arial"/>
              </a:defRPr>
            </a:pPr>
            <a:r>
              <a:rPr sz="1350" b="1">
                <a:solidFill>
                  <a:srgbClr val="0076BA"/>
                </a:solidFill>
                <a:latin typeface="Arial"/>
                <a:ea typeface="Arial"/>
                <a:cs typeface="Arial"/>
              </a:rPr>
              <a:t>PAWLYTICS</a:t>
            </a:r>
          </a:p>
        </p:txBody>
      </p:sp>
      <p:sp>
        <p:nvSpPr>
          <p:cNvPr id="2" name="09">
            <a:extLst xmlns:a="http://schemas.openxmlformats.org/drawingml/2006/main">
              <a:ext uri="{FF2B5EF4-FFF2-40B4-BE49-F238E27FC236}">
                <a16:creationId xmlns:a16="http://schemas.microsoft.com/office/drawing/2014/main" id="{75363D93-F363-4CF4-8E6A-CC9D0C88A605}"/>
              </a:ext>
            </a:extLst>
          </p:cNvPr>
          <p:cNvSpPr>
            <a:spLocks xmlns:a="http://schemas.openxmlformats.org/drawingml/2006/main" noGrp="1"/>
          </p:cNvSpPr>
          <p:nvPr/>
        </p:nvSpPr>
        <p:spPr>
          <a:xfrm xmlns:a="http://schemas.openxmlformats.org/drawingml/2006/main">
            <a:off x="11144250" y="628650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86B79"/>
                </a:solidFill>
                <a:latin typeface="Arial"/>
                <a:ea typeface="Arial"/>
                <a:cs typeface="Arial"/>
              </a:defRPr>
            </a:pPr>
            <a:r>
              <a:rPr sz="1275" b="0">
                <a:solidFill>
                  <a:srgbClr val="586B79"/>
                </a:solidFill>
                <a:latin typeface="Arial"/>
                <a:ea typeface="Arial"/>
                <a:cs typeface="Arial"/>
              </a:rPr>
              <a:t>09</a:t>
            </a:r>
          </a:p>
        </p:txBody>
      </p:sp>
      <p:sp>
        <p:nvSpPr>
          <p:cNvPr id="3" name="Explore Pawlytics">
            <a:extLst xmlns:a="http://schemas.openxmlformats.org/drawingml/2006/main">
              <a:ext uri="{FF2B5EF4-FFF2-40B4-BE49-F238E27FC236}">
                <a16:creationId xmlns:a16="http://schemas.microsoft.com/office/drawing/2014/main" id="{F6741D84-E35A-4AE4-96C4-BD5E66BA86B4}"/>
              </a:ext>
            </a:extLst>
          </p:cNvPr>
          <p:cNvSpPr>
            <a:spLocks xmlns:a="http://schemas.openxmlformats.org/drawingml/2006/main" noGrp="1"/>
          </p:cNvSpPr>
          <p:nvPr/>
        </p:nvSpPr>
        <p:spPr>
          <a:xfrm xmlns:a="http://schemas.openxmlformats.org/drawingml/2006/main">
            <a:off x="571500" y="7429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73B60"/>
                </a:solidFill>
                <a:latin typeface="Arial"/>
                <a:ea typeface="Arial"/>
                <a:cs typeface="Arial"/>
              </a:defRPr>
            </a:pPr>
            <a:r>
              <a:rPr sz="3300" b="1">
                <a:solidFill>
                  <a:srgbClr val="073B60"/>
                </a:solidFill>
                <a:latin typeface="Arial"/>
                <a:ea typeface="Arial"/>
                <a:cs typeface="Arial"/>
              </a:rPr>
              <a:t>Explore Pawlytics</a:t>
            </a:r>
          </a:p>
        </p:txBody>
      </p:sp>
      <p:sp>
        <p:nvSpPr>
          <p:cNvPr id="4" name="Live product, source code and the evidence behind this pitch">
            <a:extLst xmlns:a="http://schemas.openxmlformats.org/drawingml/2006/main">
              <a:ext uri="{FF2B5EF4-FFF2-40B4-BE49-F238E27FC236}">
                <a16:creationId xmlns:a16="http://schemas.microsoft.com/office/drawing/2014/main" id="{E64DA102-7C63-40B8-B330-E2BCD0C20B7A}"/>
              </a:ext>
            </a:extLst>
          </p:cNvPr>
          <p:cNvSpPr>
            <a:spLocks xmlns:a="http://schemas.openxmlformats.org/drawingml/2006/main" noGrp="1"/>
          </p:cNvSpPr>
          <p:nvPr/>
        </p:nvSpPr>
        <p:spPr>
          <a:xfrm xmlns:a="http://schemas.openxmlformats.org/drawingml/2006/main">
            <a:off x="590550" y="14668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B79"/>
                </a:solidFill>
                <a:latin typeface="Arial"/>
                <a:ea typeface="Arial"/>
                <a:cs typeface="Arial"/>
              </a:defRPr>
            </a:pPr>
            <a:r>
              <a:rPr sz="1800" b="0">
                <a:solidFill>
                  <a:srgbClr val="586B79"/>
                </a:solidFill>
                <a:latin typeface="Arial"/>
                <a:ea typeface="Arial"/>
                <a:cs typeface="Arial"/>
              </a:rPr>
              <a:t>Live product, source code and the evidence behind this pitch.</a:t>
            </a:r>
          </a:p>
        </p:txBody>
      </p:sp>
      <p:sp>
        <p:nvSpPr>
          <p:cNvPr id="5" name="LIVE WEB APP">
            <a:extLst xmlns:a="http://schemas.openxmlformats.org/drawingml/2006/main">
              <a:ext uri="{FF2B5EF4-FFF2-40B4-BE49-F238E27FC236}">
                <a16:creationId xmlns:a16="http://schemas.microsoft.com/office/drawing/2014/main" id="{8898D2A3-58A2-4D42-9F8D-A2FBDD567A1B}"/>
              </a:ext>
            </a:extLst>
          </p:cNvPr>
          <p:cNvSpPr>
            <a:spLocks xmlns:a="http://schemas.openxmlformats.org/drawingml/2006/main" noGrp="1"/>
          </p:cNvSpPr>
          <p:nvPr/>
        </p:nvSpPr>
        <p:spPr>
          <a:xfrm xmlns:a="http://schemas.openxmlformats.org/drawingml/2006/main">
            <a:off x="619125" y="23622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6B79"/>
                </a:solidFill>
                <a:latin typeface="Arial"/>
                <a:ea typeface="Arial"/>
                <a:cs typeface="Arial"/>
              </a:defRPr>
            </a:pPr>
            <a:r>
              <a:rPr sz="1500" b="1">
                <a:solidFill>
                  <a:srgbClr val="586B79"/>
                </a:solidFill>
                <a:latin typeface="Arial"/>
                <a:ea typeface="Arial"/>
                <a:cs typeface="Arial"/>
              </a:rPr>
              <a:t>LIVE WEB APP</a:t>
            </a:r>
          </a:p>
        </p:txBody>
      </p:sp>
      <p:sp>
        <p:nvSpPr>
          <p:cNvPr id="6" name="pawlytics-one.vercel.app">
            <a:extLst xmlns:a="http://schemas.openxmlformats.org/drawingml/2006/main">
              <a:ext uri="{FF2B5EF4-FFF2-40B4-BE49-F238E27FC236}">
                <a16:creationId xmlns:a16="http://schemas.microsoft.com/office/drawing/2014/main" id="{3490D29E-0319-435C-938B-1DA029DD75F2}"/>
              </a:ext>
            </a:extLst>
          </p:cNvPr>
          <p:cNvSpPr>
            <a:spLocks xmlns:a="http://schemas.openxmlformats.org/drawingml/2006/main" noGrp="1"/>
          </p:cNvSpPr>
          <p:nvPr/>
        </p:nvSpPr>
        <p:spPr>
          <a:xfrm xmlns:a="http://schemas.openxmlformats.org/drawingml/2006/main">
            <a:off x="609600" y="28003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6BA"/>
                </a:solidFill>
                <a:latin typeface="Arial"/>
                <a:ea typeface="Arial"/>
                <a:cs typeface="Arial"/>
              </a:defRPr>
            </a:pPr>
            <a:r>
              <a:rPr sz="2775" b="1">
                <a:solidFill>
                  <a:srgbClr val="0076BA"/>
                </a:solidFill>
                <a:latin typeface="Arial"/>
                <a:ea typeface="Arial"/>
                <a:cs typeface="Arial"/>
                <a:hlinkClick xmlns:r="http://schemas.openxmlformats.org/officeDocument/2006/relationships" r:id="Raf10c23027724363"/>
              </a:rPr>
              <a:t>pawlytics-one.vercel.app</a:t>
            </a:r>
          </a:p>
        </p:txBody>
      </p:sp>
      <p:sp>
        <p:nvSpPr>
          <p:cNvPr id="7" name="GITHUB REPOSITORY">
            <a:extLst xmlns:a="http://schemas.openxmlformats.org/drawingml/2006/main">
              <a:ext uri="{FF2B5EF4-FFF2-40B4-BE49-F238E27FC236}">
                <a16:creationId xmlns:a16="http://schemas.microsoft.com/office/drawing/2014/main" id="{0521E648-559A-498D-B485-8CE8558FD8D4}"/>
              </a:ext>
            </a:extLst>
          </p:cNvPr>
          <p:cNvSpPr>
            <a:spLocks xmlns:a="http://schemas.openxmlformats.org/drawingml/2006/main" noGrp="1"/>
          </p:cNvSpPr>
          <p:nvPr/>
        </p:nvSpPr>
        <p:spPr>
          <a:xfrm xmlns:a="http://schemas.openxmlformats.org/drawingml/2006/main">
            <a:off x="619125" y="36480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86B79"/>
                </a:solidFill>
                <a:latin typeface="Arial"/>
                <a:ea typeface="Arial"/>
                <a:cs typeface="Arial"/>
              </a:defRPr>
            </a:pPr>
            <a:r>
              <a:rPr sz="1500" b="1">
                <a:solidFill>
                  <a:srgbClr val="586B79"/>
                </a:solidFill>
                <a:latin typeface="Arial"/>
                <a:ea typeface="Arial"/>
                <a:cs typeface="Arial"/>
              </a:rPr>
              <a:t>GITHUB REPOSITORY</a:t>
            </a:r>
          </a:p>
        </p:txBody>
      </p:sp>
      <p:sp>
        <p:nvSpPr>
          <p:cNvPr id="8" name="github.com/UjjvxL/Pawlytics">
            <a:extLst xmlns:a="http://schemas.openxmlformats.org/drawingml/2006/main">
              <a:ext uri="{FF2B5EF4-FFF2-40B4-BE49-F238E27FC236}">
                <a16:creationId xmlns:a16="http://schemas.microsoft.com/office/drawing/2014/main" id="{35065F2C-8B12-446F-9871-44BA1028E27B}"/>
              </a:ext>
            </a:extLst>
          </p:cNvPr>
          <p:cNvSpPr>
            <a:spLocks xmlns:a="http://schemas.openxmlformats.org/drawingml/2006/main" noGrp="1"/>
          </p:cNvSpPr>
          <p:nvPr/>
        </p:nvSpPr>
        <p:spPr>
          <a:xfrm xmlns:a="http://schemas.openxmlformats.org/drawingml/2006/main">
            <a:off x="609600" y="40862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6BA"/>
                </a:solidFill>
                <a:latin typeface="Arial"/>
                <a:ea typeface="Arial"/>
                <a:cs typeface="Arial"/>
              </a:defRPr>
            </a:pPr>
            <a:r>
              <a:rPr sz="2775" b="1">
                <a:solidFill>
                  <a:srgbClr val="0076BA"/>
                </a:solidFill>
                <a:latin typeface="Arial"/>
                <a:ea typeface="Arial"/>
                <a:cs typeface="Arial"/>
                <a:hlinkClick xmlns:r="http://schemas.openxmlformats.org/officeDocument/2006/relationships" r:id="R7c5aeff0a6df4976"/>
              </a:rPr>
              <a:t>github.com/UjjvxL/Pawlytics</a:t>
            </a:r>
          </a:p>
        </p:txBody>
      </p:sp>
      <p:sp>
        <p:nvSpPr>
          <p:cNvPr id="9" name="Authority dashboard">
            <a:extLst xmlns:a="http://schemas.openxmlformats.org/drawingml/2006/main">
              <a:ext uri="{FF2B5EF4-FFF2-40B4-BE49-F238E27FC236}">
                <a16:creationId xmlns:a16="http://schemas.microsoft.com/office/drawing/2014/main" id="{23162D15-64D1-4CF0-9959-4B3E04A930FC}"/>
              </a:ext>
            </a:extLst>
          </p:cNvPr>
          <p:cNvSpPr>
            <a:spLocks xmlns:a="http://schemas.openxmlformats.org/drawingml/2006/main" noGrp="1"/>
          </p:cNvSpPr>
          <p:nvPr/>
        </p:nvSpPr>
        <p:spPr>
          <a:xfrm xmlns:a="http://schemas.openxmlformats.org/drawingml/2006/main">
            <a:off x="619125" y="481965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6BA"/>
                </a:solidFill>
                <a:latin typeface="Arial"/>
                <a:ea typeface="Arial"/>
                <a:cs typeface="Arial"/>
              </a:defRPr>
            </a:pPr>
            <a:r>
              <a:rPr sz="1875" b="1">
                <a:solidFill>
                  <a:srgbClr val="0076BA"/>
                </a:solidFill>
                <a:latin typeface="Arial"/>
                <a:ea typeface="Arial"/>
                <a:cs typeface="Arial"/>
                <a:hlinkClick xmlns:r="http://schemas.openxmlformats.org/officeDocument/2006/relationships" r:id="R7e8bca9f070b47ee"/>
              </a:rPr>
              <a:t>Authority dashboard</a:t>
            </a:r>
          </a:p>
        </p:txBody>
      </p:sp>
      <p:sp>
        <p:nvSpPr>
          <p:cNvPr id="10" name="Evidence and implementation">
            <a:extLst xmlns:a="http://schemas.openxmlformats.org/drawingml/2006/main">
              <a:ext uri="{FF2B5EF4-FFF2-40B4-BE49-F238E27FC236}">
                <a16:creationId xmlns:a16="http://schemas.microsoft.com/office/drawing/2014/main" id="{82FF48ED-3066-4F2A-8DFD-0C399FA9C86E}"/>
              </a:ext>
            </a:extLst>
          </p:cNvPr>
          <p:cNvSpPr>
            <a:spLocks xmlns:a="http://schemas.openxmlformats.org/drawingml/2006/main" noGrp="1"/>
          </p:cNvSpPr>
          <p:nvPr/>
        </p:nvSpPr>
        <p:spPr>
          <a:xfrm xmlns:a="http://schemas.openxmlformats.org/drawingml/2006/main">
            <a:off x="619125" y="5505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73B60"/>
                </a:solidFill>
                <a:latin typeface="Arial"/>
                <a:ea typeface="Arial"/>
                <a:cs typeface="Arial"/>
              </a:defRPr>
            </a:pPr>
            <a:r>
              <a:rPr sz="1650" b="1">
                <a:solidFill>
                  <a:srgbClr val="073B60"/>
                </a:solidFill>
                <a:latin typeface="Arial"/>
                <a:ea typeface="Arial"/>
                <a:cs typeface="Arial"/>
              </a:rPr>
              <a:t>Evidence and implementation</a:t>
            </a:r>
          </a:p>
        </p:txBody>
      </p:sp>
      <p:sp>
        <p:nvSpPr>
          <p:cNvPr id="11" name="PIB: 2024 reported dog-bite and suspected rabies figures">
            <a:extLst xmlns:a="http://schemas.openxmlformats.org/drawingml/2006/main">
              <a:ext uri="{FF2B5EF4-FFF2-40B4-BE49-F238E27FC236}">
                <a16:creationId xmlns:a16="http://schemas.microsoft.com/office/drawing/2014/main" id="{872246EC-695B-444A-8CE5-9B2EF6914C18}"/>
              </a:ext>
            </a:extLst>
          </p:cNvPr>
          <p:cNvSpPr>
            <a:spLocks xmlns:a="http://schemas.openxmlformats.org/drawingml/2006/main" noGrp="1"/>
          </p:cNvSpPr>
          <p:nvPr/>
        </p:nvSpPr>
        <p:spPr>
          <a:xfrm xmlns:a="http://schemas.openxmlformats.org/drawingml/2006/main">
            <a:off x="619125" y="5905500"/>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76BA"/>
                </a:solidFill>
                <a:latin typeface="Arial"/>
                <a:ea typeface="Arial"/>
                <a:cs typeface="Arial"/>
              </a:defRPr>
            </a:pPr>
            <a:r>
              <a:rPr sz="1575" b="1">
                <a:solidFill>
                  <a:srgbClr val="0076BA"/>
                </a:solidFill>
                <a:latin typeface="Arial"/>
                <a:ea typeface="Arial"/>
                <a:cs typeface="Arial"/>
                <a:hlinkClick xmlns:r="http://schemas.openxmlformats.org/officeDocument/2006/relationships" r:id="R282036485d14438a"/>
              </a:rPr>
              <a:t>PIB: 2024 reported dog-bite and suspected rabies figures</a:t>
            </a:r>
          </a:p>
        </p:txBody>
      </p:sp>
      <p:sp>
        <p:nvSpPr>
          <p:cNvPr id="12" name="Architecture: repository README and riskEngine.js. UI images">
            <a:extLst xmlns:a="http://schemas.openxmlformats.org/drawingml/2006/main">
              <a:ext uri="{FF2B5EF4-FFF2-40B4-BE49-F238E27FC236}">
                <a16:creationId xmlns:a16="http://schemas.microsoft.com/office/drawing/2014/main" id="{4665F5DA-9130-4133-B5F9-2D6C5F4AC03D}"/>
              </a:ext>
            </a:extLst>
          </p:cNvPr>
          <p:cNvSpPr>
            <a:spLocks xmlns:a="http://schemas.openxmlformats.org/drawingml/2006/main" noGrp="1"/>
          </p:cNvSpPr>
          <p:nvPr/>
        </p:nvSpPr>
        <p:spPr>
          <a:xfrm xmlns:a="http://schemas.openxmlformats.org/drawingml/2006/main">
            <a:off x="619125" y="6334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B79"/>
                </a:solidFill>
                <a:latin typeface="Arial"/>
                <a:ea typeface="Arial"/>
                <a:cs typeface="Arial"/>
              </a:defRPr>
            </a:pPr>
            <a:r>
              <a:rPr sz="1200" b="0">
                <a:solidFill>
                  <a:srgbClr val="586B79"/>
                </a:solidFill>
                <a:latin typeface="Arial"/>
                <a:ea typeface="Arial"/>
                <a:cs typeface="Arial"/>
              </a:rPr>
              <a:t>Architecture: repository README and riskEngine.js. UI images: live app, 6 September 2026.</a:t>
            </a:r>
          </a:p>
        </p:txBody>
      </p:sp>
    </p:spTree>
    <p:extLst>
      <p:ext uri="{BB962C8B-B14F-4D97-AF65-F5344CB8AC3E}">
        <p14:creationId xmlns:p14="http://schemas.microsoft.com/office/powerpoint/2010/main" val="773353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2026-09-05T21:41:40.6630000Z</dcterms:created>
  <dcterms:modified xsi:type="dcterms:W3CDTF">2026-09-05T21:41:40.6630000Z</dcterms:modified>
</coreProperties>
</file>